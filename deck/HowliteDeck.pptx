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portal.howlitecorp.com/contac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5394960"/>
            <a:ext cx="13106095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0" b="1" spc="800" kern="0" dirty="0">
                <a:solidFill>
                  <a:srgbClr val="1113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HOWLITE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5469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" y="502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HOWLITE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448495" y="640080"/>
            <a:ext cx="1874520" cy="292608"/>
          </a:xfrm>
          <a:prstGeom prst="roundRect">
            <a:avLst>
              <a:gd name="adj" fmla="val 50000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67367" y="740664"/>
            <a:ext cx="91440" cy="91440"/>
          </a:xfrm>
          <a:prstGeom prst="ellipse">
            <a:avLst/>
          </a:prstGeom>
          <a:solidFill>
            <a:srgbClr val="5469D4"/>
          </a:solidFill>
          <a:ln/>
        </p:spPr>
      </p:sp>
      <p:sp>
        <p:nvSpPr>
          <p:cNvPr id="8" name="Text 6"/>
          <p:cNvSpPr/>
          <p:nvPr/>
        </p:nvSpPr>
        <p:spPr>
          <a:xfrm>
            <a:off x="9704527" y="64008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 INFRASTRUCTURE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Unaffiliated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7B8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 Network.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548640" y="374904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Transparent fees. Richer data. Real-time stablecoin settlement.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63928" y="4572000"/>
            <a:ext cx="2377440" cy="1280160"/>
          </a:xfrm>
          <a:prstGeom prst="roundRect">
            <a:avLst>
              <a:gd name="adj" fmla="val 7143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63928" y="47091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B8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T+0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163928" y="53492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Settlement Speed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07128" y="4572000"/>
            <a:ext cx="2377440" cy="1280160"/>
          </a:xfrm>
          <a:prstGeom prst="roundRect">
            <a:avLst>
              <a:gd name="adj" fmla="val 7143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07128" y="47091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907128" y="53492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 Data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50328" y="4572000"/>
            <a:ext cx="2377440" cy="1280160"/>
          </a:xfrm>
          <a:prstGeom prst="roundRect">
            <a:avLst>
              <a:gd name="adj" fmla="val 7143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50328" y="47091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E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USDC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650328" y="53492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Currency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330452" cy="292608"/>
          </a:xfrm>
          <a:prstGeom prst="roundRect">
            <a:avLst>
              <a:gd name="adj" fmla="val 50000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" y="649224"/>
            <a:ext cx="91440" cy="91440"/>
          </a:xfrm>
          <a:prstGeom prst="ellipse">
            <a:avLst/>
          </a:prstGeom>
          <a:solidFill>
            <a:srgbClr val="5469D4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548640"/>
            <a:ext cx="10561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OPPORTUNITY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market that needs a rethink.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Healthcare payments. Broken at every layer.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32308" y="2587752"/>
            <a:ext cx="2560320" cy="2898648"/>
          </a:xfrm>
          <a:prstGeom prst="roundRect">
            <a:avLst>
              <a:gd name="adj" fmla="val 3571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2308" y="2560320"/>
            <a:ext cx="2560320" cy="27432"/>
          </a:xfrm>
          <a:prstGeom prst="rect">
            <a:avLst/>
          </a:prstGeom>
          <a:solidFill>
            <a:srgbClr val="7B8FE8"/>
          </a:solidFill>
          <a:ln/>
        </p:spPr>
      </p:sp>
      <p:sp>
        <p:nvSpPr>
          <p:cNvPr id="9" name="Shape 7"/>
          <p:cNvSpPr/>
          <p:nvPr/>
        </p:nvSpPr>
        <p:spPr>
          <a:xfrm>
            <a:off x="906628" y="292608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111327"/>
          </a:solidFill>
          <a:ln w="9525">
            <a:solidFill>
              <a:srgbClr val="7B8F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9780" y="2926080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7B8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U.S. Healthcare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32308" y="34747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7B8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$5.3T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815188" y="45262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spc="50" kern="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annual spend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21228" y="2587752"/>
            <a:ext cx="2560320" cy="2898648"/>
          </a:xfrm>
          <a:prstGeom prst="roundRect">
            <a:avLst>
              <a:gd name="adj" fmla="val 3571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1228" y="2560320"/>
            <a:ext cx="2560320" cy="274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Shape 13"/>
          <p:cNvSpPr/>
          <p:nvPr/>
        </p:nvSpPr>
        <p:spPr>
          <a:xfrm>
            <a:off x="3695548" y="292608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111327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8700" y="2926080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cards live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21228" y="34747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$550B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3604108" y="45262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spc="50" kern="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Consumer out-of-pocket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0148" y="2587752"/>
            <a:ext cx="2560320" cy="2898648"/>
          </a:xfrm>
          <a:prstGeom prst="roundRect">
            <a:avLst>
              <a:gd name="adj" fmla="val 3571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0148" y="2560320"/>
            <a:ext cx="2560320" cy="27432"/>
          </a:xfrm>
          <a:prstGeom prst="rect">
            <a:avLst/>
          </a:prstGeom>
          <a:solidFill>
            <a:srgbClr val="00BE64"/>
          </a:solidFill>
          <a:ln/>
        </p:spPr>
      </p:sp>
      <p:sp>
        <p:nvSpPr>
          <p:cNvPr id="21" name="Shape 19"/>
          <p:cNvSpPr/>
          <p:nvPr/>
        </p:nvSpPr>
        <p:spPr>
          <a:xfrm>
            <a:off x="6484468" y="292608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111327"/>
          </a:solidFill>
          <a:ln w="9525">
            <a:solidFill>
              <a:srgbClr val="00BE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57620" y="2926080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00BE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Howlite target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210148" y="34747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BE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$350B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6393028" y="45262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spc="50" kern="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credit/debit cards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999068" y="2587752"/>
            <a:ext cx="2560320" cy="2898648"/>
          </a:xfrm>
          <a:prstGeom prst="roundRect">
            <a:avLst>
              <a:gd name="adj" fmla="val 3571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99068" y="2560320"/>
            <a:ext cx="256032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9273388" y="292608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111327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46540" y="2926080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segment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999068" y="34747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$100B</a:t>
            </a:r>
            <a:endParaRPr lang="en-US" sz="4800" dirty="0"/>
          </a:p>
        </p:txBody>
      </p:sp>
      <p:sp>
        <p:nvSpPr>
          <p:cNvPr id="30" name="Text 28"/>
          <p:cNvSpPr/>
          <p:nvPr/>
        </p:nvSpPr>
        <p:spPr>
          <a:xfrm>
            <a:off x="9181948" y="45262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spc="50" kern="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HSA/FSA card spend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62179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50" kern="0" dirty="0">
                <a:solidFill>
                  <a:srgbClr val="8A8D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Howlite-enabled card — debit, credit, HSA/FSA. The largest untapped card-optimization market — HDHPs · HSA/FSA · large-ticket procedures &gt; $500.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" y="649224"/>
            <a:ext cx="91440" cy="9144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5486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Legacy networks cost everyone.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40868" y="2221992"/>
            <a:ext cx="2606040" cy="4178808"/>
          </a:xfrm>
          <a:prstGeom prst="roundRect">
            <a:avLst>
              <a:gd name="adj" fmla="val 3509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0868" y="2194560"/>
            <a:ext cx="2606040" cy="27432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8" name="Shape 6"/>
          <p:cNvSpPr/>
          <p:nvPr/>
        </p:nvSpPr>
        <p:spPr>
          <a:xfrm>
            <a:off x="815188" y="2560320"/>
            <a:ext cx="2057400" cy="310896"/>
          </a:xfrm>
          <a:prstGeom prst="roundRect">
            <a:avLst>
              <a:gd name="adj" fmla="val 50000"/>
            </a:avLst>
          </a:prstGeom>
          <a:solidFill>
            <a:srgbClr val="111327"/>
          </a:solidFill>
          <a:ln w="9525">
            <a:solidFill>
              <a:srgbClr val="F4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8340" y="2560320"/>
            <a:ext cx="1911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 per transaction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0868" y="338328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3.5%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723748" y="43891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Interchange Fees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363828" y="4937760"/>
            <a:ext cx="960120" cy="13716"/>
          </a:xfrm>
          <a:prstGeom prst="rect">
            <a:avLst/>
          </a:prstGeom>
          <a:solidFill>
            <a:srgbClr val="2A2D45"/>
          </a:solidFill>
          <a:ln/>
        </p:spPr>
      </p:sp>
      <p:sp>
        <p:nvSpPr>
          <p:cNvPr id="13" name="Text 11"/>
          <p:cNvSpPr/>
          <p:nvPr/>
        </p:nvSpPr>
        <p:spPr>
          <a:xfrm>
            <a:off x="769468" y="507492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Embedded in every transaction. Invisible markup. No one should pay this.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75508" y="2221992"/>
            <a:ext cx="2606040" cy="4178808"/>
          </a:xfrm>
          <a:prstGeom prst="roundRect">
            <a:avLst>
              <a:gd name="adj" fmla="val 3509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75508" y="2194560"/>
            <a:ext cx="260604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Shape 14"/>
          <p:cNvSpPr/>
          <p:nvPr/>
        </p:nvSpPr>
        <p:spPr>
          <a:xfrm>
            <a:off x="3649828" y="2560320"/>
            <a:ext cx="2057400" cy="310896"/>
          </a:xfrm>
          <a:prstGeom prst="roundRect">
            <a:avLst>
              <a:gd name="adj" fmla="val 50000"/>
            </a:avLst>
          </a:prstGeom>
          <a:solidFill>
            <a:srgbClr val="111327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22980" y="2560320"/>
            <a:ext cx="1911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IIAS / SIGIS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75508" y="338328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3558388" y="43891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Burden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198468" y="4937760"/>
            <a:ext cx="960120" cy="13716"/>
          </a:xfrm>
          <a:prstGeom prst="rect">
            <a:avLst/>
          </a:prstGeom>
          <a:solidFill>
            <a:srgbClr val="2A2D45"/>
          </a:solidFill>
          <a:ln/>
        </p:spPr>
      </p:sp>
      <p:sp>
        <p:nvSpPr>
          <p:cNvPr id="21" name="Text 19"/>
          <p:cNvSpPr/>
          <p:nvPr/>
        </p:nvSpPr>
        <p:spPr>
          <a:xfrm>
            <a:off x="3604108" y="507492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review teams drain resources. 80%+ overhead on every claim.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0148" y="2221992"/>
            <a:ext cx="2606040" cy="4178808"/>
          </a:xfrm>
          <a:prstGeom prst="roundRect">
            <a:avLst>
              <a:gd name="adj" fmla="val 3509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0148" y="2194560"/>
            <a:ext cx="2606040" cy="274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Shape 22"/>
          <p:cNvSpPr/>
          <p:nvPr/>
        </p:nvSpPr>
        <p:spPr>
          <a:xfrm>
            <a:off x="6484468" y="2560320"/>
            <a:ext cx="2057400" cy="310896"/>
          </a:xfrm>
          <a:prstGeom prst="roundRect">
            <a:avLst>
              <a:gd name="adj" fmla="val 50000"/>
            </a:avLst>
          </a:prstGeom>
          <a:solidFill>
            <a:srgbClr val="111327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57620" y="2560320"/>
            <a:ext cx="1911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T+2 to T+5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10148" y="338328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Days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6393028" y="43891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Settlement Delay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033108" y="4937760"/>
            <a:ext cx="960120" cy="13716"/>
          </a:xfrm>
          <a:prstGeom prst="rect">
            <a:avLst/>
          </a:prstGeom>
          <a:solidFill>
            <a:srgbClr val="2A2D45"/>
          </a:solidFill>
          <a:ln/>
        </p:spPr>
      </p:sp>
      <p:sp>
        <p:nvSpPr>
          <p:cNvPr id="29" name="Text 27"/>
          <p:cNvSpPr/>
          <p:nvPr/>
        </p:nvSpPr>
        <p:spPr>
          <a:xfrm>
            <a:off x="6438748" y="507492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Providers wait days for funds. Cash flow suffers. Network wins.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044788" y="2221992"/>
            <a:ext cx="2606040" cy="4178808"/>
          </a:xfrm>
          <a:prstGeom prst="roundRect">
            <a:avLst>
              <a:gd name="adj" fmla="val 3509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44788" y="2194560"/>
            <a:ext cx="2606040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2" name="Shape 30"/>
          <p:cNvSpPr/>
          <p:nvPr/>
        </p:nvSpPr>
        <p:spPr>
          <a:xfrm>
            <a:off x="9319108" y="2560320"/>
            <a:ext cx="2057400" cy="310896"/>
          </a:xfrm>
          <a:prstGeom prst="roundRect">
            <a:avLst>
              <a:gd name="adj" fmla="val 50000"/>
            </a:avLst>
          </a:prstGeom>
          <a:solidFill>
            <a:srgbClr val="111327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92260" y="2560320"/>
            <a:ext cx="1911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Upcoding · Dupes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044788" y="338328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$Bn</a:t>
            </a:r>
            <a:endParaRPr lang="en-US" sz="4400" dirty="0"/>
          </a:p>
        </p:txBody>
      </p:sp>
      <p:sp>
        <p:nvSpPr>
          <p:cNvPr id="35" name="Text 33"/>
          <p:cNvSpPr/>
          <p:nvPr/>
        </p:nvSpPr>
        <p:spPr>
          <a:xfrm>
            <a:off x="9227668" y="43891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Billing Errors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9867748" y="4937760"/>
            <a:ext cx="960120" cy="13716"/>
          </a:xfrm>
          <a:prstGeom prst="rect">
            <a:avLst/>
          </a:prstGeom>
          <a:solidFill>
            <a:srgbClr val="2A2D45"/>
          </a:solidFill>
          <a:ln/>
        </p:spPr>
      </p:sp>
      <p:sp>
        <p:nvSpPr>
          <p:cNvPr id="37" name="Text 35"/>
          <p:cNvSpPr/>
          <p:nvPr/>
        </p:nvSpPr>
        <p:spPr>
          <a:xfrm>
            <a:off x="9273388" y="507492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 claims and upcoding cost the system billions every year.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30452" cy="292608"/>
          </a:xfrm>
          <a:prstGeom prst="roundRect">
            <a:avLst>
              <a:gd name="adj" fmla="val 50000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" y="557784"/>
            <a:ext cx="91440" cy="91440"/>
          </a:xfrm>
          <a:prstGeom prst="ellipse">
            <a:avLst/>
          </a:prstGeom>
          <a:solidFill>
            <a:srgbClr val="5469D4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457200"/>
            <a:ext cx="10561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TRANSACTION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swipe to settlement.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2404872"/>
            <a:ext cx="1554480" cy="1709928"/>
          </a:xfrm>
          <a:prstGeom prst="roundRect">
            <a:avLst>
              <a:gd name="adj" fmla="val 5882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377440"/>
            <a:ext cx="1554480" cy="27432"/>
          </a:xfrm>
          <a:prstGeom prst="rect">
            <a:avLst/>
          </a:prstGeom>
          <a:solidFill>
            <a:srgbClr val="7B8FE8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2606040"/>
            <a:ext cx="365760" cy="365760"/>
          </a:xfrm>
          <a:prstGeom prst="ellipse">
            <a:avLst/>
          </a:prstGeom>
          <a:solidFill>
            <a:srgbClr val="5469D4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💳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8640" y="34747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7B8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credit/debit card, swiped at any terminal.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03120" y="3246120"/>
            <a:ext cx="548640" cy="0"/>
          </a:xfrm>
          <a:prstGeom prst="line">
            <a:avLst/>
          </a:prstGeom>
          <a:noFill/>
          <a:ln w="12700">
            <a:solidFill>
              <a:srgbClr val="2A2D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51760" y="3017520"/>
            <a:ext cx="0" cy="457200"/>
          </a:xfrm>
          <a:prstGeom prst="line">
            <a:avLst/>
          </a:prstGeom>
          <a:noFill/>
          <a:ln w="12700">
            <a:solidFill>
              <a:srgbClr val="2A2D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51760" y="3017520"/>
            <a:ext cx="365760" cy="0"/>
          </a:xfrm>
          <a:prstGeom prst="line">
            <a:avLst/>
          </a:prstGeom>
          <a:noFill/>
          <a:ln w="19050">
            <a:solidFill>
              <a:srgbClr val="00BE6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51760" y="3474720"/>
            <a:ext cx="365760" cy="0"/>
          </a:xfrm>
          <a:prstGeom prst="line">
            <a:avLst/>
          </a:prstGeom>
          <a:noFill/>
          <a:ln w="19050">
            <a:solidFill>
              <a:srgbClr val="F43F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63240" y="1783080"/>
            <a:ext cx="8579815" cy="2103120"/>
          </a:xfrm>
          <a:prstGeom prst="roundRect">
            <a:avLst>
              <a:gd name="adj" fmla="val 4348"/>
            </a:avLst>
          </a:prstGeom>
          <a:solidFill>
            <a:srgbClr val="0B1A14"/>
          </a:solidFill>
          <a:ln w="12700">
            <a:solidFill>
              <a:srgbClr val="00BE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1920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BE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 HOWLITE-ENABLED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72200" y="1920240"/>
            <a:ext cx="5287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parties · $0.15 flat · real-time data · T+0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37560" y="2331720"/>
            <a:ext cx="2539898" cy="1417320"/>
          </a:xfrm>
          <a:prstGeom prst="roundRect">
            <a:avLst>
              <a:gd name="adj" fmla="val 5161"/>
            </a:avLst>
          </a:prstGeom>
          <a:solidFill>
            <a:srgbClr val="111327"/>
          </a:solidFill>
          <a:ln w="6350">
            <a:solidFill>
              <a:srgbClr val="00BE6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37560" y="2331720"/>
            <a:ext cx="2539898" cy="27432"/>
          </a:xfrm>
          <a:prstGeom prst="rect">
            <a:avLst/>
          </a:prstGeom>
          <a:solidFill>
            <a:srgbClr val="00BE64"/>
          </a:solidFill>
          <a:ln/>
        </p:spPr>
      </p:sp>
      <p:sp>
        <p:nvSpPr>
          <p:cNvPr id="22" name="Shape 20"/>
          <p:cNvSpPr/>
          <p:nvPr/>
        </p:nvSpPr>
        <p:spPr>
          <a:xfrm>
            <a:off x="4470349" y="2468880"/>
            <a:ext cx="274320" cy="274320"/>
          </a:xfrm>
          <a:prstGeom prst="ellipse">
            <a:avLst/>
          </a:prstGeom>
          <a:solidFill>
            <a:srgbClr val="00BE64"/>
          </a:solidFill>
          <a:ln/>
        </p:spPr>
      </p:sp>
      <p:sp>
        <p:nvSpPr>
          <p:cNvPr id="23" name="Text 21"/>
          <p:cNvSpPr/>
          <p:nvPr/>
        </p:nvSpPr>
        <p:spPr>
          <a:xfrm>
            <a:off x="4470349" y="2468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37560" y="2788920"/>
            <a:ext cx="25398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337560" y="3154680"/>
            <a:ext cx="2539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00BE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ENRICH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29000" y="3429000"/>
            <a:ext cx="235701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FHIR data attached. Auto-coded.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895746" y="2880360"/>
            <a:ext cx="164592" cy="274320"/>
          </a:xfrm>
          <a:prstGeom prst="rightArrow">
            <a:avLst/>
          </a:prstGeom>
          <a:solidFill>
            <a:srgbClr val="00BE64"/>
          </a:solidFill>
          <a:ln/>
        </p:spPr>
      </p:sp>
      <p:sp>
        <p:nvSpPr>
          <p:cNvPr id="28" name="Shape 26"/>
          <p:cNvSpPr/>
          <p:nvPr/>
        </p:nvSpPr>
        <p:spPr>
          <a:xfrm>
            <a:off x="6083198" y="2331720"/>
            <a:ext cx="2539898" cy="1417320"/>
          </a:xfrm>
          <a:prstGeom prst="roundRect">
            <a:avLst>
              <a:gd name="adj" fmla="val 5161"/>
            </a:avLst>
          </a:prstGeom>
          <a:solidFill>
            <a:srgbClr val="111327"/>
          </a:solidFill>
          <a:ln w="6350">
            <a:solidFill>
              <a:srgbClr val="00BE6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83198" y="2331720"/>
            <a:ext cx="2539898" cy="27432"/>
          </a:xfrm>
          <a:prstGeom prst="rect">
            <a:avLst/>
          </a:prstGeom>
          <a:solidFill>
            <a:srgbClr val="00BE64"/>
          </a:solidFill>
          <a:ln/>
        </p:spPr>
      </p:sp>
      <p:sp>
        <p:nvSpPr>
          <p:cNvPr id="30" name="Shape 28"/>
          <p:cNvSpPr/>
          <p:nvPr/>
        </p:nvSpPr>
        <p:spPr>
          <a:xfrm>
            <a:off x="7215988" y="2468880"/>
            <a:ext cx="274320" cy="274320"/>
          </a:xfrm>
          <a:prstGeom prst="ellipse">
            <a:avLst/>
          </a:prstGeom>
          <a:solidFill>
            <a:srgbClr val="00BE64"/>
          </a:solidFill>
          <a:ln/>
        </p:spPr>
      </p:sp>
      <p:sp>
        <p:nvSpPr>
          <p:cNvPr id="31" name="Text 29"/>
          <p:cNvSpPr/>
          <p:nvPr/>
        </p:nvSpPr>
        <p:spPr>
          <a:xfrm>
            <a:off x="7215988" y="2468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083198" y="2788920"/>
            <a:ext cx="25398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083198" y="3154680"/>
            <a:ext cx="2539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00BE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74638" y="3429000"/>
            <a:ext cx="235701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validates. Auto-substantiated.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641385" y="2880360"/>
            <a:ext cx="164592" cy="274320"/>
          </a:xfrm>
          <a:prstGeom prst="rightArrow">
            <a:avLst/>
          </a:prstGeom>
          <a:solidFill>
            <a:srgbClr val="00BE64"/>
          </a:solidFill>
          <a:ln/>
        </p:spPr>
      </p:sp>
      <p:sp>
        <p:nvSpPr>
          <p:cNvPr id="36" name="Shape 34"/>
          <p:cNvSpPr/>
          <p:nvPr/>
        </p:nvSpPr>
        <p:spPr>
          <a:xfrm>
            <a:off x="8828837" y="2331720"/>
            <a:ext cx="2539898" cy="1417320"/>
          </a:xfrm>
          <a:prstGeom prst="roundRect">
            <a:avLst>
              <a:gd name="adj" fmla="val 5161"/>
            </a:avLst>
          </a:prstGeom>
          <a:solidFill>
            <a:srgbClr val="111327"/>
          </a:solidFill>
          <a:ln w="6350">
            <a:solidFill>
              <a:srgbClr val="00BE6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28837" y="2331720"/>
            <a:ext cx="2539898" cy="27432"/>
          </a:xfrm>
          <a:prstGeom prst="rect">
            <a:avLst/>
          </a:prstGeom>
          <a:solidFill>
            <a:srgbClr val="00BE64"/>
          </a:solidFill>
          <a:ln/>
        </p:spPr>
      </p:sp>
      <p:sp>
        <p:nvSpPr>
          <p:cNvPr id="38" name="Shape 36"/>
          <p:cNvSpPr/>
          <p:nvPr/>
        </p:nvSpPr>
        <p:spPr>
          <a:xfrm>
            <a:off x="9961626" y="2468880"/>
            <a:ext cx="274320" cy="274320"/>
          </a:xfrm>
          <a:prstGeom prst="ellipse">
            <a:avLst/>
          </a:prstGeom>
          <a:solidFill>
            <a:srgbClr val="00BE64"/>
          </a:solidFill>
          <a:ln/>
        </p:spPr>
      </p:sp>
      <p:sp>
        <p:nvSpPr>
          <p:cNvPr id="39" name="Text 37"/>
          <p:cNvSpPr/>
          <p:nvPr/>
        </p:nvSpPr>
        <p:spPr>
          <a:xfrm>
            <a:off x="9961626" y="2468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828837" y="2788920"/>
            <a:ext cx="25398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8828837" y="3154680"/>
            <a:ext cx="2539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00BE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SETTLE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920277" y="3429000"/>
            <a:ext cx="235701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USDC direct. T+0. Zero float.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063240" y="4114800"/>
            <a:ext cx="8579815" cy="2377440"/>
          </a:xfrm>
          <a:prstGeom prst="roundRect">
            <a:avLst>
              <a:gd name="adj" fmla="val 3846"/>
            </a:avLst>
          </a:prstGeom>
          <a:solidFill>
            <a:srgbClr val="1A0B10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46120" y="4251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🏛️ LEGACY RAILS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172200" y="4251960"/>
            <a:ext cx="5287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6+ parties · 2-4% fees · no clinical data · T+3 to T+5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337560" y="4663440"/>
            <a:ext cx="1265377" cy="1554480"/>
          </a:xfrm>
          <a:prstGeom prst="roundRect">
            <a:avLst>
              <a:gd name="adj" fmla="val 5781"/>
            </a:avLst>
          </a:prstGeom>
          <a:solidFill>
            <a:srgbClr val="111327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337560" y="4663440"/>
            <a:ext cx="1265377" cy="27432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48" name="Shape 46"/>
          <p:cNvSpPr/>
          <p:nvPr/>
        </p:nvSpPr>
        <p:spPr>
          <a:xfrm>
            <a:off x="3851377" y="4773168"/>
            <a:ext cx="237744" cy="237744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49" name="Text 47"/>
          <p:cNvSpPr/>
          <p:nvPr/>
        </p:nvSpPr>
        <p:spPr>
          <a:xfrm>
            <a:off x="3851377" y="477316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383280" y="5166360"/>
            <a:ext cx="117393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ACQUIRER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3410712" y="5532120"/>
            <a:ext cx="1119073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Processor takes cut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607509" y="5303520"/>
            <a:ext cx="77724" cy="228600"/>
          </a:xfrm>
          <a:prstGeom prst="rightArrow">
            <a:avLst/>
          </a:prstGeom>
          <a:solidFill>
            <a:srgbClr val="F43F5E"/>
          </a:solidFill>
          <a:ln/>
        </p:spPr>
      </p:sp>
      <p:sp>
        <p:nvSpPr>
          <p:cNvPr id="53" name="Shape 51"/>
          <p:cNvSpPr/>
          <p:nvPr/>
        </p:nvSpPr>
        <p:spPr>
          <a:xfrm>
            <a:off x="4690720" y="4663440"/>
            <a:ext cx="1265377" cy="1554480"/>
          </a:xfrm>
          <a:prstGeom prst="roundRect">
            <a:avLst>
              <a:gd name="adj" fmla="val 5781"/>
            </a:avLst>
          </a:prstGeom>
          <a:solidFill>
            <a:srgbClr val="111327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90720" y="4663440"/>
            <a:ext cx="1265377" cy="27432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55" name="Shape 53"/>
          <p:cNvSpPr/>
          <p:nvPr/>
        </p:nvSpPr>
        <p:spPr>
          <a:xfrm>
            <a:off x="5204536" y="4773168"/>
            <a:ext cx="237744" cy="237744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56" name="Text 54"/>
          <p:cNvSpPr/>
          <p:nvPr/>
        </p:nvSpPr>
        <p:spPr>
          <a:xfrm>
            <a:off x="5204536" y="477316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736440" y="5166360"/>
            <a:ext cx="117393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763872" y="5532120"/>
            <a:ext cx="1119073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Visa/MC routing fees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5960669" y="5303520"/>
            <a:ext cx="77724" cy="228600"/>
          </a:xfrm>
          <a:prstGeom prst="rightArrow">
            <a:avLst/>
          </a:prstGeom>
          <a:solidFill>
            <a:srgbClr val="F43F5E"/>
          </a:solidFill>
          <a:ln/>
        </p:spPr>
      </p:sp>
      <p:sp>
        <p:nvSpPr>
          <p:cNvPr id="60" name="Shape 58"/>
          <p:cNvSpPr/>
          <p:nvPr/>
        </p:nvSpPr>
        <p:spPr>
          <a:xfrm>
            <a:off x="6043879" y="4663440"/>
            <a:ext cx="1265377" cy="1554480"/>
          </a:xfrm>
          <a:prstGeom prst="roundRect">
            <a:avLst>
              <a:gd name="adj" fmla="val 5781"/>
            </a:avLst>
          </a:prstGeom>
          <a:solidFill>
            <a:srgbClr val="111327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043879" y="4663440"/>
            <a:ext cx="1265377" cy="27432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62" name="Shape 60"/>
          <p:cNvSpPr/>
          <p:nvPr/>
        </p:nvSpPr>
        <p:spPr>
          <a:xfrm>
            <a:off x="6557696" y="4773168"/>
            <a:ext cx="237744" cy="237744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63" name="Text 61"/>
          <p:cNvSpPr/>
          <p:nvPr/>
        </p:nvSpPr>
        <p:spPr>
          <a:xfrm>
            <a:off x="6557696" y="477316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089599" y="5166360"/>
            <a:ext cx="117393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ISSUER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117031" y="5532120"/>
            <a:ext cx="1119073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Interchange added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7313828" y="5303520"/>
            <a:ext cx="77724" cy="228600"/>
          </a:xfrm>
          <a:prstGeom prst="rightArrow">
            <a:avLst/>
          </a:prstGeom>
          <a:solidFill>
            <a:srgbClr val="F43F5E"/>
          </a:solidFill>
          <a:ln/>
        </p:spPr>
      </p:sp>
      <p:sp>
        <p:nvSpPr>
          <p:cNvPr id="67" name="Shape 65"/>
          <p:cNvSpPr/>
          <p:nvPr/>
        </p:nvSpPr>
        <p:spPr>
          <a:xfrm>
            <a:off x="7397039" y="4663440"/>
            <a:ext cx="1265377" cy="1554480"/>
          </a:xfrm>
          <a:prstGeom prst="roundRect">
            <a:avLst>
              <a:gd name="adj" fmla="val 5781"/>
            </a:avLst>
          </a:prstGeom>
          <a:solidFill>
            <a:srgbClr val="111327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397039" y="4663440"/>
            <a:ext cx="1265377" cy="27432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69" name="Shape 67"/>
          <p:cNvSpPr/>
          <p:nvPr/>
        </p:nvSpPr>
        <p:spPr>
          <a:xfrm>
            <a:off x="7910855" y="4773168"/>
            <a:ext cx="237744" cy="237744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70" name="Text 68"/>
          <p:cNvSpPr/>
          <p:nvPr/>
        </p:nvSpPr>
        <p:spPr>
          <a:xfrm>
            <a:off x="7910855" y="477316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7442759" y="5166360"/>
            <a:ext cx="117393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CUSTODIAN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7470191" y="5532120"/>
            <a:ext cx="1119073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Funds held &amp; delayed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8666988" y="5303520"/>
            <a:ext cx="77724" cy="228600"/>
          </a:xfrm>
          <a:prstGeom prst="rightArrow">
            <a:avLst/>
          </a:prstGeom>
          <a:solidFill>
            <a:srgbClr val="F43F5E"/>
          </a:solidFill>
          <a:ln/>
        </p:spPr>
      </p:sp>
      <p:sp>
        <p:nvSpPr>
          <p:cNvPr id="74" name="Shape 72"/>
          <p:cNvSpPr/>
          <p:nvPr/>
        </p:nvSpPr>
        <p:spPr>
          <a:xfrm>
            <a:off x="8750198" y="4663440"/>
            <a:ext cx="1265377" cy="1554480"/>
          </a:xfrm>
          <a:prstGeom prst="roundRect">
            <a:avLst>
              <a:gd name="adj" fmla="val 5781"/>
            </a:avLst>
          </a:prstGeom>
          <a:solidFill>
            <a:srgbClr val="111327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750198" y="4663440"/>
            <a:ext cx="1265377" cy="27432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76" name="Shape 74"/>
          <p:cNvSpPr/>
          <p:nvPr/>
        </p:nvSpPr>
        <p:spPr>
          <a:xfrm>
            <a:off x="9264015" y="4773168"/>
            <a:ext cx="237744" cy="237744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77" name="Text 75"/>
          <p:cNvSpPr/>
          <p:nvPr/>
        </p:nvSpPr>
        <p:spPr>
          <a:xfrm>
            <a:off x="9264015" y="477316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8795918" y="5166360"/>
            <a:ext cx="117393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TPA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8823350" y="5532120"/>
            <a:ext cx="1119073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claim review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10020148" y="5303520"/>
            <a:ext cx="77724" cy="228600"/>
          </a:xfrm>
          <a:prstGeom prst="rightArrow">
            <a:avLst/>
          </a:prstGeom>
          <a:solidFill>
            <a:srgbClr val="F43F5E"/>
          </a:solidFill>
          <a:ln/>
        </p:spPr>
      </p:sp>
      <p:sp>
        <p:nvSpPr>
          <p:cNvPr id="81" name="Shape 79"/>
          <p:cNvSpPr/>
          <p:nvPr/>
        </p:nvSpPr>
        <p:spPr>
          <a:xfrm>
            <a:off x="10103358" y="4663440"/>
            <a:ext cx="1265377" cy="1554480"/>
          </a:xfrm>
          <a:prstGeom prst="roundRect">
            <a:avLst>
              <a:gd name="adj" fmla="val 5781"/>
            </a:avLst>
          </a:prstGeom>
          <a:solidFill>
            <a:srgbClr val="111327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103358" y="4663440"/>
            <a:ext cx="1265377" cy="27432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83" name="Shape 81"/>
          <p:cNvSpPr/>
          <p:nvPr/>
        </p:nvSpPr>
        <p:spPr>
          <a:xfrm>
            <a:off x="10617175" y="4773168"/>
            <a:ext cx="237744" cy="237744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84" name="Text 82"/>
          <p:cNvSpPr/>
          <p:nvPr/>
        </p:nvSpPr>
        <p:spPr>
          <a:xfrm>
            <a:off x="10617175" y="477316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10149078" y="5166360"/>
            <a:ext cx="117393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SETTLE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10176510" y="5532120"/>
            <a:ext cx="1119073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ACH batch. T+3 to T+5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5394960"/>
            <a:ext cx="13106095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0" b="1" spc="800" kern="0" dirty="0">
                <a:solidFill>
                  <a:srgbClr val="1113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HOWLITE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548640" y="54864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512" y="649224"/>
            <a:ext cx="91440" cy="91440"/>
          </a:xfrm>
          <a:prstGeom prst="ellipse">
            <a:avLst/>
          </a:prstGeom>
          <a:solidFill>
            <a:srgbClr val="00BE64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5486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 built different.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with your existing bank-issued cards. No new hardware.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03708" y="2404872"/>
            <a:ext cx="3611880" cy="3995928"/>
          </a:xfrm>
          <a:prstGeom prst="roundRect">
            <a:avLst>
              <a:gd name="adj" fmla="val 2532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3708" y="2377440"/>
            <a:ext cx="3611880" cy="27432"/>
          </a:xfrm>
          <a:prstGeom prst="rect">
            <a:avLst/>
          </a:prstGeom>
          <a:solidFill>
            <a:srgbClr val="7B8FE8"/>
          </a:solidFill>
          <a:ln/>
        </p:spPr>
      </p:sp>
      <p:sp>
        <p:nvSpPr>
          <p:cNvPr id="10" name="Shape 8"/>
          <p:cNvSpPr/>
          <p:nvPr/>
        </p:nvSpPr>
        <p:spPr>
          <a:xfrm>
            <a:off x="1843888" y="269748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11327"/>
          </a:solidFill>
          <a:ln w="9525">
            <a:solidFill>
              <a:srgbClr val="7B8F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43888" y="2697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1386688" y="356616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111327"/>
          </a:solidFill>
          <a:ln w="9525">
            <a:solidFill>
              <a:srgbClr val="7B8F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59840" y="3566160"/>
            <a:ext cx="1499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7B8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routing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86588" y="40233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Intelligent Routing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78028" y="44805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any Howlite-enabled card — debit, credit, HSA/FSA — through a smarter layer. Replaces interchange with $0.15 flat.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6628" y="5660136"/>
            <a:ext cx="91440" cy="91440"/>
          </a:xfrm>
          <a:prstGeom prst="ellipse">
            <a:avLst/>
          </a:prstGeom>
          <a:solidFill>
            <a:srgbClr val="7B8FE8"/>
          </a:solidFill>
          <a:ln/>
        </p:spPr>
      </p:sp>
      <p:sp>
        <p:nvSpPr>
          <p:cNvPr id="17" name="Text 15"/>
          <p:cNvSpPr/>
          <p:nvPr/>
        </p:nvSpPr>
        <p:spPr>
          <a:xfrm>
            <a:off x="1089508" y="557784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POS terminal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6628" y="5907024"/>
            <a:ext cx="91440" cy="91440"/>
          </a:xfrm>
          <a:prstGeom prst="ellipse">
            <a:avLst/>
          </a:prstGeom>
          <a:solidFill>
            <a:srgbClr val="7B8FE8"/>
          </a:solidFill>
          <a:ln/>
        </p:spPr>
      </p:sp>
      <p:sp>
        <p:nvSpPr>
          <p:cNvPr id="19" name="Text 17"/>
          <p:cNvSpPr/>
          <p:nvPr/>
        </p:nvSpPr>
        <p:spPr>
          <a:xfrm>
            <a:off x="1089508" y="5824728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merchant integration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6628" y="6153912"/>
            <a:ext cx="91440" cy="91440"/>
          </a:xfrm>
          <a:prstGeom prst="ellipse">
            <a:avLst/>
          </a:prstGeom>
          <a:solidFill>
            <a:srgbClr val="7B8FE8"/>
          </a:solidFill>
          <a:ln/>
        </p:spPr>
      </p:sp>
      <p:sp>
        <p:nvSpPr>
          <p:cNvPr id="21" name="Text 19"/>
          <p:cNvSpPr/>
          <p:nvPr/>
        </p:nvSpPr>
        <p:spPr>
          <a:xfrm>
            <a:off x="1089508" y="6071616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in weeks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89908" y="2404872"/>
            <a:ext cx="3611880" cy="3995928"/>
          </a:xfrm>
          <a:prstGeom prst="roundRect">
            <a:avLst>
              <a:gd name="adj" fmla="val 2532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89908" y="2377440"/>
            <a:ext cx="3611880" cy="274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Shape 22"/>
          <p:cNvSpPr/>
          <p:nvPr/>
        </p:nvSpPr>
        <p:spPr>
          <a:xfrm>
            <a:off x="5730088" y="269748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11327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30088" y="2697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5272888" y="356616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111327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6040" y="3566160"/>
            <a:ext cx="1499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FHIR-native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472788" y="40233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Enrichment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4564228" y="44805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transaction carries structured L3 data, FHIR fields, and full audit trails.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792828" y="5660136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4975708" y="557784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CPT / ICD auto-coded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92828" y="5907024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3" name="Text 31"/>
          <p:cNvSpPr/>
          <p:nvPr/>
        </p:nvSpPr>
        <p:spPr>
          <a:xfrm>
            <a:off x="4975708" y="5824728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compliance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92828" y="6153912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5" name="Text 33"/>
          <p:cNvSpPr/>
          <p:nvPr/>
        </p:nvSpPr>
        <p:spPr>
          <a:xfrm>
            <a:off x="4975708" y="6071616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80%+ overhead reduction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176108" y="2404872"/>
            <a:ext cx="3611880" cy="3995928"/>
          </a:xfrm>
          <a:prstGeom prst="roundRect">
            <a:avLst>
              <a:gd name="adj" fmla="val 2532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76108" y="2377440"/>
            <a:ext cx="3611880" cy="27432"/>
          </a:xfrm>
          <a:prstGeom prst="rect">
            <a:avLst/>
          </a:prstGeom>
          <a:solidFill>
            <a:srgbClr val="00BE64"/>
          </a:solidFill>
          <a:ln/>
        </p:spPr>
      </p:sp>
      <p:sp>
        <p:nvSpPr>
          <p:cNvPr id="38" name="Shape 36"/>
          <p:cNvSpPr/>
          <p:nvPr/>
        </p:nvSpPr>
        <p:spPr>
          <a:xfrm>
            <a:off x="9616288" y="269748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11327"/>
          </a:solidFill>
          <a:ln w="9525">
            <a:solidFill>
              <a:srgbClr val="00BE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16288" y="2697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40" name="Shape 38"/>
          <p:cNvSpPr/>
          <p:nvPr/>
        </p:nvSpPr>
        <p:spPr>
          <a:xfrm>
            <a:off x="9159088" y="356616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111327"/>
          </a:solidFill>
          <a:ln w="9525">
            <a:solidFill>
              <a:srgbClr val="00BE6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32240" y="3566160"/>
            <a:ext cx="1499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00BE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T+0 · Zero float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358988" y="40233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Settlement</a:t>
            </a:r>
            <a:endParaRPr lang="en-US" sz="1900" dirty="0"/>
          </a:p>
        </p:txBody>
      </p:sp>
      <p:sp>
        <p:nvSpPr>
          <p:cNvPr id="43" name="Text 41"/>
          <p:cNvSpPr/>
          <p:nvPr/>
        </p:nvSpPr>
        <p:spPr>
          <a:xfrm>
            <a:off x="8450428" y="44805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USDC directly to the provider's EVM wallet at transaction time. No T+2 float.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679028" y="5660136"/>
            <a:ext cx="91440" cy="91440"/>
          </a:xfrm>
          <a:prstGeom prst="ellipse">
            <a:avLst/>
          </a:prstGeom>
          <a:solidFill>
            <a:srgbClr val="00BE64"/>
          </a:solidFill>
          <a:ln/>
        </p:spPr>
      </p:sp>
      <p:sp>
        <p:nvSpPr>
          <p:cNvPr id="45" name="Text 43"/>
          <p:cNvSpPr/>
          <p:nvPr/>
        </p:nvSpPr>
        <p:spPr>
          <a:xfrm>
            <a:off x="8861908" y="557784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Hedera Hashgraph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679028" y="5907024"/>
            <a:ext cx="91440" cy="91440"/>
          </a:xfrm>
          <a:prstGeom prst="ellipse">
            <a:avLst/>
          </a:prstGeom>
          <a:solidFill>
            <a:srgbClr val="00BE64"/>
          </a:solidFill>
          <a:ln/>
        </p:spPr>
      </p:sp>
      <p:sp>
        <p:nvSpPr>
          <p:cNvPr id="47" name="Text 45"/>
          <p:cNvSpPr/>
          <p:nvPr/>
        </p:nvSpPr>
        <p:spPr>
          <a:xfrm>
            <a:off x="8861908" y="5824728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wire fees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679028" y="6153912"/>
            <a:ext cx="91440" cy="91440"/>
          </a:xfrm>
          <a:prstGeom prst="ellipse">
            <a:avLst/>
          </a:prstGeom>
          <a:solidFill>
            <a:srgbClr val="00BE64"/>
          </a:solidFill>
          <a:ln/>
        </p:spPr>
      </p:sp>
      <p:sp>
        <p:nvSpPr>
          <p:cNvPr id="49" name="Text 47"/>
          <p:cNvSpPr/>
          <p:nvPr/>
        </p:nvSpPr>
        <p:spPr>
          <a:xfrm>
            <a:off x="8861908" y="6071616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Same-day, every time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" y="649224"/>
            <a:ext cx="91440" cy="91440"/>
          </a:xfrm>
          <a:prstGeom prst="ellipse">
            <a:avLst/>
          </a:prstGeom>
          <a:solidFill>
            <a:srgbClr val="5469D4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5486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YOU GAIN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numbers speak.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838048" y="2221992"/>
            <a:ext cx="5120640" cy="1755648"/>
          </a:xfrm>
          <a:prstGeom prst="roundRect">
            <a:avLst>
              <a:gd name="adj" fmla="val 5208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048" y="2194560"/>
            <a:ext cx="5120640" cy="27432"/>
          </a:xfrm>
          <a:prstGeom prst="rect">
            <a:avLst/>
          </a:prstGeom>
          <a:solidFill>
            <a:srgbClr val="7B8FE8"/>
          </a:solidFill>
          <a:ln/>
        </p:spPr>
      </p:sp>
      <p:sp>
        <p:nvSpPr>
          <p:cNvPr id="8" name="Text 6"/>
          <p:cNvSpPr/>
          <p:nvPr/>
        </p:nvSpPr>
        <p:spPr>
          <a:xfrm>
            <a:off x="975208" y="2377440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7B8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60%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2849728" y="24688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Processing Cost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849728" y="2880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vs. legacy card networks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49728" y="333756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111327"/>
          </a:solidFill>
          <a:ln w="9525">
            <a:solidFill>
              <a:srgbClr val="7B8F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2880" y="3337560"/>
            <a:ext cx="22311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7B8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$0.15 flat vs. 2.5–3.5%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33008" y="2221992"/>
            <a:ext cx="5120640" cy="1755648"/>
          </a:xfrm>
          <a:prstGeom prst="roundRect">
            <a:avLst>
              <a:gd name="adj" fmla="val 5208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3008" y="2194560"/>
            <a:ext cx="5120640" cy="274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6370168" y="2377440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L3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8244688" y="24688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FHIR Healthcare Data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44688" y="2880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transaction. Full audit trail.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44688" y="333756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111327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17840" y="3337560"/>
            <a:ext cx="22311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L3 + FHIR fields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38048" y="4279392"/>
            <a:ext cx="5120640" cy="1755648"/>
          </a:xfrm>
          <a:prstGeom prst="roundRect">
            <a:avLst>
              <a:gd name="adj" fmla="val 5208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8048" y="4251960"/>
            <a:ext cx="5120640" cy="27432"/>
          </a:xfrm>
          <a:prstGeom prst="rect">
            <a:avLst/>
          </a:prstGeom>
          <a:solidFill>
            <a:srgbClr val="00BE64"/>
          </a:solidFill>
          <a:ln/>
        </p:spPr>
      </p:sp>
      <p:sp>
        <p:nvSpPr>
          <p:cNvPr id="22" name="Text 20"/>
          <p:cNvSpPr/>
          <p:nvPr/>
        </p:nvSpPr>
        <p:spPr>
          <a:xfrm>
            <a:off x="975208" y="4434840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0BE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T+0</a:t>
            </a:r>
            <a:endParaRPr lang="en-US" sz="5600" dirty="0"/>
          </a:p>
        </p:txBody>
      </p:sp>
      <p:sp>
        <p:nvSpPr>
          <p:cNvPr id="23" name="Text 21"/>
          <p:cNvSpPr/>
          <p:nvPr/>
        </p:nvSpPr>
        <p:spPr>
          <a:xfrm>
            <a:off x="2849728" y="45262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Settlement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2849728" y="4937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USDC direct to EVM wallet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849728" y="539496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111327"/>
          </a:solidFill>
          <a:ln w="9525">
            <a:solidFill>
              <a:srgbClr val="00BE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2880" y="5394960"/>
            <a:ext cx="22311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00BE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T+0 · Zero float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233008" y="4279392"/>
            <a:ext cx="5120640" cy="1755648"/>
          </a:xfrm>
          <a:prstGeom prst="roundRect">
            <a:avLst>
              <a:gd name="adj" fmla="val 5208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33008" y="4251960"/>
            <a:ext cx="512064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6370168" y="4434840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5600" dirty="0"/>
          </a:p>
        </p:txBody>
      </p:sp>
      <p:sp>
        <p:nvSpPr>
          <p:cNvPr id="30" name="Text 28"/>
          <p:cNvSpPr/>
          <p:nvPr/>
        </p:nvSpPr>
        <p:spPr>
          <a:xfrm>
            <a:off x="8244688" y="45262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Compliance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244688" y="4937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manual overhead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244688" y="539496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111327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17840" y="5394960"/>
            <a:ext cx="22311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audit trail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" y="603504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50292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LAYER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dollar explained.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486400" cy="4572000"/>
          </a:xfrm>
          <a:prstGeom prst="roundRect">
            <a:avLst>
              <a:gd name="adj" fmla="val 2400"/>
            </a:avLst>
          </a:prstGeom>
          <a:solidFill>
            <a:srgbClr val="050714"/>
          </a:solidFill>
          <a:ln w="12700">
            <a:solidFill>
              <a:srgbClr val="2A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5486400" cy="384048"/>
          </a:xfrm>
          <a:prstGeom prst="rect">
            <a:avLst/>
          </a:prstGeom>
          <a:solidFill>
            <a:srgbClr val="111327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956816"/>
            <a:ext cx="128016" cy="128016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9" name="Shape 7"/>
          <p:cNvSpPr/>
          <p:nvPr/>
        </p:nvSpPr>
        <p:spPr>
          <a:xfrm>
            <a:off x="960120" y="1956816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1188720" y="1956816"/>
            <a:ext cx="128016" cy="128016"/>
          </a:xfrm>
          <a:prstGeom prst="ellipse">
            <a:avLst/>
          </a:prstGeom>
          <a:solidFill>
            <a:srgbClr val="00BE64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182880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howlite.tx · VERIFIED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2468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D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2468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Dr. Smith · Office Visit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27980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D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279806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B8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$150.00 USDC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1272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D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0" y="31272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8011 — Physicians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34564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D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CPT codes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34564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99213, 93000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37856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D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FHIR fields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0" y="37856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B8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Full IIAS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D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IIAS status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0" y="4114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B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 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44439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D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fraud score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0" y="444398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B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0.02 · Low risk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D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howlite fee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0" y="47731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B8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$0.15 flat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51023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D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settlement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0" y="51023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B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T+0 · USDC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943600"/>
            <a:ext cx="5486400" cy="13716"/>
          </a:xfrm>
          <a:prstGeom prst="rect">
            <a:avLst/>
          </a:prstGeom>
          <a:solidFill>
            <a:srgbClr val="2A2D45"/>
          </a:solidFill>
          <a:ln/>
        </p:spPr>
      </p:sp>
      <p:sp>
        <p:nvSpPr>
          <p:cNvPr id="31" name="Shape 29"/>
          <p:cNvSpPr/>
          <p:nvPr/>
        </p:nvSpPr>
        <p:spPr>
          <a:xfrm>
            <a:off x="914400" y="6108192"/>
            <a:ext cx="146304" cy="146304"/>
          </a:xfrm>
          <a:prstGeom prst="ellipse">
            <a:avLst/>
          </a:prstGeom>
          <a:solidFill>
            <a:srgbClr val="00BE64"/>
          </a:solidFill>
          <a:ln/>
        </p:spPr>
      </p:sp>
      <p:sp>
        <p:nvSpPr>
          <p:cNvPr id="32" name="Text 30"/>
          <p:cNvSpPr/>
          <p:nvPr/>
        </p:nvSpPr>
        <p:spPr>
          <a:xfrm>
            <a:off x="1143000" y="60167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80" kern="0" dirty="0">
                <a:solidFill>
                  <a:srgbClr val="00BE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91840" y="60167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8D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Hedera · block #8,241,990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309360" y="1828800"/>
            <a:ext cx="5333695" cy="1005840"/>
          </a:xfrm>
          <a:prstGeom prst="roundRect">
            <a:avLst>
              <a:gd name="adj" fmla="val 9091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09360" y="1828800"/>
            <a:ext cx="73152" cy="1005840"/>
          </a:xfrm>
          <a:prstGeom prst="rect">
            <a:avLst/>
          </a:prstGeom>
          <a:solidFill>
            <a:srgbClr val="7B8FE8"/>
          </a:solidFill>
          <a:ln/>
        </p:spPr>
      </p:sp>
      <p:sp>
        <p:nvSpPr>
          <p:cNvPr id="36" name="Text 34"/>
          <p:cNvSpPr/>
          <p:nvPr/>
        </p:nvSpPr>
        <p:spPr>
          <a:xfrm>
            <a:off x="649224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B8FE8"/>
                </a:solidFill>
              </a:rPr>
              <a:t>✓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086600" y="1938528"/>
            <a:ext cx="364205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CPT Review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7086600" y="2331720"/>
            <a:ext cx="36420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Validates billing codes at transaction time — before approval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774375" y="219456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111327"/>
          </a:solidFill>
          <a:ln w="9525">
            <a:solidFill>
              <a:srgbClr val="7B8F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847527" y="2194560"/>
            <a:ext cx="630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7B8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309360" y="2971800"/>
            <a:ext cx="5333695" cy="1005840"/>
          </a:xfrm>
          <a:prstGeom prst="roundRect">
            <a:avLst>
              <a:gd name="adj" fmla="val 9091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09360" y="2971800"/>
            <a:ext cx="73152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649224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9E0B"/>
                </a:solidFill>
              </a:rPr>
              <a:t>⎘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7086600" y="3081528"/>
            <a:ext cx="364205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 Detection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7086600" y="3474720"/>
            <a:ext cx="36420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flags duplicate billing and upcoding in real time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0774375" y="333756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111327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847527" y="3337560"/>
            <a:ext cx="630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309360" y="4114800"/>
            <a:ext cx="5333695" cy="1005840"/>
          </a:xfrm>
          <a:prstGeom prst="roundRect">
            <a:avLst>
              <a:gd name="adj" fmla="val 9091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09360" y="4114800"/>
            <a:ext cx="73152" cy="1005840"/>
          </a:xfrm>
          <a:prstGeom prst="rect">
            <a:avLst/>
          </a:prstGeom>
          <a:solidFill>
            <a:srgbClr val="00BE64"/>
          </a:solidFill>
          <a:ln/>
        </p:spPr>
      </p:sp>
      <p:sp>
        <p:nvSpPr>
          <p:cNvPr id="50" name="Text 48"/>
          <p:cNvSpPr/>
          <p:nvPr/>
        </p:nvSpPr>
        <p:spPr>
          <a:xfrm>
            <a:off x="649224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BE64"/>
                </a:solidFill>
              </a:rPr>
              <a:t>🛡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7086600" y="4224528"/>
            <a:ext cx="364205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Dispute Reduction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7086600" y="4617720"/>
            <a:ext cx="36420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Pre-validated data means fewer chargebacks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0774375" y="448056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111327"/>
          </a:solidFill>
          <a:ln w="9525">
            <a:solidFill>
              <a:srgbClr val="00BE6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847527" y="4480560"/>
            <a:ext cx="630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00BE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-90%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309360" y="5257800"/>
            <a:ext cx="5333695" cy="1005840"/>
          </a:xfrm>
          <a:prstGeom prst="roundRect">
            <a:avLst>
              <a:gd name="adj" fmla="val 9091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09360" y="5257800"/>
            <a:ext cx="73152" cy="10058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7" name="Text 55"/>
          <p:cNvSpPr/>
          <p:nvPr/>
        </p:nvSpPr>
        <p:spPr>
          <a:xfrm>
            <a:off x="6492240" y="5532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5CF6"/>
                </a:solidFill>
              </a:rPr>
              <a:t>📄</a:t>
            </a:r>
            <a:endParaRPr lang="en-US" sz="2200" dirty="0"/>
          </a:p>
        </p:txBody>
      </p:sp>
      <p:sp>
        <p:nvSpPr>
          <p:cNvPr id="58" name="Text 56"/>
          <p:cNvSpPr/>
          <p:nvPr/>
        </p:nvSpPr>
        <p:spPr>
          <a:xfrm>
            <a:off x="7086600" y="5367528"/>
            <a:ext cx="364205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 Compliance Filing</a:t>
            </a:r>
            <a:endParaRPr lang="en-US" sz="1350" dirty="0"/>
          </a:p>
        </p:txBody>
      </p:sp>
      <p:sp>
        <p:nvSpPr>
          <p:cNvPr id="59" name="Text 57"/>
          <p:cNvSpPr/>
          <p:nvPr/>
        </p:nvSpPr>
        <p:spPr>
          <a:xfrm>
            <a:off x="7086600" y="5760720"/>
            <a:ext cx="36420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records, filed automatically — zero manual overhead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0774375" y="562356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111327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847527" y="5623560"/>
            <a:ext cx="630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5394960"/>
            <a:ext cx="13106095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0" b="1" spc="800" kern="0" dirty="0">
                <a:solidFill>
                  <a:srgbClr val="1113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HEDERA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512" y="603504"/>
            <a:ext cx="91440" cy="91440"/>
          </a:xfrm>
          <a:prstGeom prst="ellipse">
            <a:avLst/>
          </a:prstGeom>
          <a:solidFill>
            <a:srgbClr val="00BE64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50292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NETWORK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Settlement at network speed.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856232"/>
            <a:ext cx="4937760" cy="4544568"/>
          </a:xfrm>
          <a:prstGeom prst="roundRect">
            <a:avLst>
              <a:gd name="adj" fmla="val 2012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4937760" cy="27432"/>
          </a:xfrm>
          <a:prstGeom prst="rect">
            <a:avLst/>
          </a:prstGeom>
          <a:solidFill>
            <a:srgbClr val="00BE64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14884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Hedera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914400" y="274320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BE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Hashgraph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914400" y="33832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8D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DISTRIBUTED LEDGER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374904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Enterprise-grade DLT. Fast, fair, secure. aBFT consensus. Finality in 3–5 seconds.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45720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8D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GOVERNING COUNCIL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4937760"/>
            <a:ext cx="731520" cy="292608"/>
          </a:xfrm>
          <a:prstGeom prst="roundRect">
            <a:avLst>
              <a:gd name="adj" fmla="val 18750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93776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737360" y="4937760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7360" y="493776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IBM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0" y="4937760"/>
            <a:ext cx="731520" cy="292608"/>
          </a:xfrm>
          <a:prstGeom prst="roundRect">
            <a:avLst>
              <a:gd name="adj" fmla="val 18750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0" y="493776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Boeing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08960" y="4937760"/>
            <a:ext cx="365760" cy="292608"/>
          </a:xfrm>
          <a:prstGeom prst="roundRect">
            <a:avLst>
              <a:gd name="adj" fmla="val 18750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0" y="493776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566160" y="4937760"/>
            <a:ext cx="548640" cy="292608"/>
          </a:xfrm>
          <a:prstGeom prst="roundRect">
            <a:avLst>
              <a:gd name="adj" fmla="val 18750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493776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14400" y="5321808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32180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Deutsche Telekom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651760" y="5321808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51760" y="532180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ServiceNow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840480" y="5321808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0" y="532180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Ubisoft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14400" y="594360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0BE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Finality 3–5s · aBFT · Carbon-negative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760720" y="1828800"/>
            <a:ext cx="5882335" cy="1371600"/>
          </a:xfrm>
          <a:prstGeom prst="roundRect">
            <a:avLst>
              <a:gd name="adj" fmla="val 6667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60720" y="1828800"/>
            <a:ext cx="73152" cy="1371600"/>
          </a:xfrm>
          <a:prstGeom prst="rect">
            <a:avLst/>
          </a:prstGeom>
          <a:solidFill>
            <a:srgbClr val="7B8FE8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0" y="214884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B8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6675120" y="20116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7B8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10K+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8138160" y="2057400"/>
            <a:ext cx="2590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Transactions Per Second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138160" y="2423160"/>
            <a:ext cx="2590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Enterprise-grade throughput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0774375" y="233172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111327"/>
          </a:solidFill>
          <a:ln w="9525">
            <a:solidFill>
              <a:srgbClr val="7B8F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847527" y="2331720"/>
            <a:ext cx="630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7B8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TPS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760720" y="3383280"/>
            <a:ext cx="5882335" cy="1371600"/>
          </a:xfrm>
          <a:prstGeom prst="roundRect">
            <a:avLst>
              <a:gd name="adj" fmla="val 6667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760720" y="3383280"/>
            <a:ext cx="73152" cy="1371600"/>
          </a:xfrm>
          <a:prstGeom prst="rect">
            <a:avLst/>
          </a:prstGeom>
          <a:solidFill>
            <a:srgbClr val="00BE64"/>
          </a:solidFill>
          <a:ln/>
        </p:spPr>
      </p:sp>
      <p:sp>
        <p:nvSpPr>
          <p:cNvPr id="41" name="Text 39"/>
          <p:cNvSpPr/>
          <p:nvPr/>
        </p:nvSpPr>
        <p:spPr>
          <a:xfrm>
            <a:off x="5943600" y="370332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E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6675120" y="35661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BE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$0.001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8138160" y="3611880"/>
            <a:ext cx="2590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Settlement Cost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8138160" y="3977640"/>
            <a:ext cx="2590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vs. $0.02–$0.30 legacy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0774375" y="38862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111327"/>
          </a:solidFill>
          <a:ln w="9525">
            <a:solidFill>
              <a:srgbClr val="00BE6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847527" y="3886200"/>
            <a:ext cx="630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00BE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99% cheaper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760720" y="4937760"/>
            <a:ext cx="5882335" cy="1371600"/>
          </a:xfrm>
          <a:prstGeom prst="roundRect">
            <a:avLst>
              <a:gd name="adj" fmla="val 6667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760720" y="4937760"/>
            <a:ext cx="73152" cy="13716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9" name="Text 47"/>
          <p:cNvSpPr/>
          <p:nvPr/>
        </p:nvSpPr>
        <p:spPr>
          <a:xfrm>
            <a:off x="5943600" y="525780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↔</a:t>
            </a:r>
            <a:endParaRPr lang="en-US" sz="2800" dirty="0"/>
          </a:p>
        </p:txBody>
      </p:sp>
      <p:sp>
        <p:nvSpPr>
          <p:cNvPr id="50" name="Text 48"/>
          <p:cNvSpPr/>
          <p:nvPr/>
        </p:nvSpPr>
        <p:spPr>
          <a:xfrm>
            <a:off x="6675120" y="51206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24/7</a:t>
            </a:r>
            <a:endParaRPr lang="en-US" sz="2800" dirty="0"/>
          </a:p>
        </p:txBody>
      </p:sp>
      <p:sp>
        <p:nvSpPr>
          <p:cNvPr id="51" name="Text 49"/>
          <p:cNvSpPr/>
          <p:nvPr/>
        </p:nvSpPr>
        <p:spPr>
          <a:xfrm>
            <a:off x="8138160" y="5166360"/>
            <a:ext cx="2590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Settlement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8138160" y="5532120"/>
            <a:ext cx="2590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batch windows. No float.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0774375" y="544068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111327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847527" y="5440680"/>
            <a:ext cx="630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Always on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" y="603504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50292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IMPACT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changes when Howlite runs.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0868" y="2221992"/>
            <a:ext cx="2606040" cy="3995928"/>
          </a:xfrm>
          <a:prstGeom prst="roundRect">
            <a:avLst>
              <a:gd name="adj" fmla="val 3509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0868" y="2194560"/>
            <a:ext cx="2606040" cy="27432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8" name="Text 6"/>
          <p:cNvSpPr/>
          <p:nvPr/>
        </p:nvSpPr>
        <p:spPr>
          <a:xfrm>
            <a:off x="540868" y="26517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43F5E"/>
                </a:solidFill>
              </a:rPr>
              <a:t>🔥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0868" y="356616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$50B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723748" y="4754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Friction Eliminated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5188" y="525780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cost of legacy healthcare payment overhead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75508" y="2221992"/>
            <a:ext cx="2606040" cy="3995928"/>
          </a:xfrm>
          <a:prstGeom prst="roundRect">
            <a:avLst>
              <a:gd name="adj" fmla="val 3509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75508" y="2194560"/>
            <a:ext cx="2606040" cy="27432"/>
          </a:xfrm>
          <a:prstGeom prst="rect">
            <a:avLst/>
          </a:prstGeom>
          <a:solidFill>
            <a:srgbClr val="7B8FE8"/>
          </a:solidFill>
          <a:ln/>
        </p:spPr>
      </p:sp>
      <p:sp>
        <p:nvSpPr>
          <p:cNvPr id="14" name="Text 12"/>
          <p:cNvSpPr/>
          <p:nvPr/>
        </p:nvSpPr>
        <p:spPr>
          <a:xfrm>
            <a:off x="3375508" y="26517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7B8FE8"/>
                </a:solidFill>
              </a:rPr>
              <a:t>🛡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375508" y="356616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7B8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80%+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3558388" y="4754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Savings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49828" y="525780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overhead automated away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0148" y="2221992"/>
            <a:ext cx="2606040" cy="3995928"/>
          </a:xfrm>
          <a:prstGeom prst="roundRect">
            <a:avLst>
              <a:gd name="adj" fmla="val 3509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0148" y="2194560"/>
            <a:ext cx="2606040" cy="27432"/>
          </a:xfrm>
          <a:prstGeom prst="rect">
            <a:avLst/>
          </a:prstGeom>
          <a:solidFill>
            <a:srgbClr val="00BE64"/>
          </a:solidFill>
          <a:ln/>
        </p:spPr>
      </p:sp>
      <p:sp>
        <p:nvSpPr>
          <p:cNvPr id="20" name="Text 18"/>
          <p:cNvSpPr/>
          <p:nvPr/>
        </p:nvSpPr>
        <p:spPr>
          <a:xfrm>
            <a:off x="6210148" y="26517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BE64"/>
                </a:solidFill>
              </a:rPr>
              <a:t>⚡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210148" y="356616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BE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T+0</a:t>
            </a:r>
            <a:endParaRPr lang="en-US" sz="5200" dirty="0"/>
          </a:p>
        </p:txBody>
      </p:sp>
      <p:sp>
        <p:nvSpPr>
          <p:cNvPr id="22" name="Text 20"/>
          <p:cNvSpPr/>
          <p:nvPr/>
        </p:nvSpPr>
        <p:spPr>
          <a:xfrm>
            <a:off x="6393028" y="4754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Provider Cash Flow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84468" y="525780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 vs. 2–5 business days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044788" y="2221992"/>
            <a:ext cx="2606040" cy="3995928"/>
          </a:xfrm>
          <a:prstGeom prst="roundRect">
            <a:avLst>
              <a:gd name="adj" fmla="val 3509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44788" y="2194560"/>
            <a:ext cx="2606040" cy="274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9044788" y="26517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8B5CF6"/>
                </a:solidFill>
              </a:rPr>
              <a:t>👁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9044788" y="356616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5200" dirty="0"/>
          </a:p>
        </p:txBody>
      </p:sp>
      <p:sp>
        <p:nvSpPr>
          <p:cNvPr id="28" name="Text 26"/>
          <p:cNvSpPr/>
          <p:nvPr/>
        </p:nvSpPr>
        <p:spPr>
          <a:xfrm>
            <a:off x="9227668" y="4754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 Visibility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319108" y="525780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dollar, explained and auditable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5394960"/>
            <a:ext cx="13106095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0" b="1" spc="800" kern="0" dirty="0">
                <a:solidFill>
                  <a:srgbClr val="1113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REGULATION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1719072" cy="292608"/>
          </a:xfrm>
          <a:prstGeom prst="roundRect">
            <a:avLst>
              <a:gd name="adj" fmla="val 50000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512" y="603504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502920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 TAILWINDS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law is on our side.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Federal legislation is actively creating the framework Howlite was built for.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03708" y="2496312"/>
            <a:ext cx="3611880" cy="3995928"/>
          </a:xfrm>
          <a:prstGeom prst="roundRect">
            <a:avLst>
              <a:gd name="adj" fmla="val 2532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3708" y="2468880"/>
            <a:ext cx="3611880" cy="27432"/>
          </a:xfrm>
          <a:prstGeom prst="rect">
            <a:avLst/>
          </a:prstGeom>
          <a:solidFill>
            <a:srgbClr val="00BE64"/>
          </a:solidFill>
          <a:ln/>
        </p:spPr>
      </p:sp>
      <p:sp>
        <p:nvSpPr>
          <p:cNvPr id="10" name="Shape 8"/>
          <p:cNvSpPr/>
          <p:nvPr/>
        </p:nvSpPr>
        <p:spPr>
          <a:xfrm>
            <a:off x="678028" y="2743200"/>
            <a:ext cx="3063240" cy="310896"/>
          </a:xfrm>
          <a:prstGeom prst="roundRect">
            <a:avLst>
              <a:gd name="adj" fmla="val 50000"/>
            </a:avLst>
          </a:prstGeom>
          <a:solidFill>
            <a:srgbClr val="111327"/>
          </a:solidFill>
          <a:ln w="9525">
            <a:solidFill>
              <a:srgbClr val="00BE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1180" y="2743200"/>
            <a:ext cx="2916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00BE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Active Law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03708" y="324612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BE64"/>
                </a:solidFill>
              </a:rPr>
              <a:t>⚖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86588" y="397764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Durbin Amendment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60908" y="4572000"/>
            <a:ext cx="2697480" cy="13716"/>
          </a:xfrm>
          <a:prstGeom prst="rect">
            <a:avLst/>
          </a:prstGeom>
          <a:solidFill>
            <a:srgbClr val="2A2D45"/>
          </a:solidFill>
          <a:ln/>
        </p:spPr>
      </p:sp>
      <p:sp>
        <p:nvSpPr>
          <p:cNvPr id="15" name="Text 13"/>
          <p:cNvSpPr/>
          <p:nvPr/>
        </p:nvSpPr>
        <p:spPr>
          <a:xfrm>
            <a:off x="678028" y="46634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Requires banks with $10B+ in assets to enable multiple debit routing networks.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2308" y="5577840"/>
            <a:ext cx="3154680" cy="841248"/>
          </a:xfrm>
          <a:prstGeom prst="roundRect">
            <a:avLst>
              <a:gd name="adj" fmla="val 6522"/>
            </a:avLst>
          </a:prstGeom>
          <a:solidFill>
            <a:srgbClr val="0E1124"/>
          </a:solidFill>
          <a:ln w="6350">
            <a:solidFill>
              <a:srgbClr val="2A2D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9468" y="562356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00BE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 Howlite Impact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69468" y="589788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Establishes the regulatory framework that makes Howlite routing a legally mandated choice — not a workaround.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289908" y="2496312"/>
            <a:ext cx="3611880" cy="3995928"/>
          </a:xfrm>
          <a:prstGeom prst="roundRect">
            <a:avLst>
              <a:gd name="adj" fmla="val 2532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89908" y="2468880"/>
            <a:ext cx="3611880" cy="27432"/>
          </a:xfrm>
          <a:prstGeom prst="rect">
            <a:avLst/>
          </a:prstGeom>
          <a:solidFill>
            <a:srgbClr val="7B8FE8"/>
          </a:solidFill>
          <a:ln/>
        </p:spPr>
      </p:sp>
      <p:sp>
        <p:nvSpPr>
          <p:cNvPr id="21" name="Shape 19"/>
          <p:cNvSpPr/>
          <p:nvPr/>
        </p:nvSpPr>
        <p:spPr>
          <a:xfrm>
            <a:off x="4564228" y="2743200"/>
            <a:ext cx="3063240" cy="310896"/>
          </a:xfrm>
          <a:prstGeom prst="roundRect">
            <a:avLst>
              <a:gd name="adj" fmla="val 50000"/>
            </a:avLst>
          </a:prstGeom>
          <a:solidFill>
            <a:srgbClr val="111327"/>
          </a:solidFill>
          <a:ln w="9525">
            <a:solidFill>
              <a:srgbClr val="7B8F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37380" y="2743200"/>
            <a:ext cx="2916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7B8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⏳ Pending · Bipartisan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289908" y="324612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7B8FE8"/>
                </a:solidFill>
              </a:rPr>
              <a:t>💳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4472788" y="397764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 Card Competition Act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4747108" y="4572000"/>
            <a:ext cx="2697480" cy="13716"/>
          </a:xfrm>
          <a:prstGeom prst="rect">
            <a:avLst/>
          </a:prstGeom>
          <a:solidFill>
            <a:srgbClr val="2A2D45"/>
          </a:solidFill>
          <a:ln/>
        </p:spPr>
      </p:sp>
      <p:sp>
        <p:nvSpPr>
          <p:cNvPr id="26" name="Text 24"/>
          <p:cNvSpPr/>
          <p:nvPr/>
        </p:nvSpPr>
        <p:spPr>
          <a:xfrm>
            <a:off x="4564228" y="46634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Extends Durbin-like routing requirements to credit cards with bipartisan support.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18508" y="5577840"/>
            <a:ext cx="3154680" cy="841248"/>
          </a:xfrm>
          <a:prstGeom prst="roundRect">
            <a:avLst>
              <a:gd name="adj" fmla="val 6522"/>
            </a:avLst>
          </a:prstGeom>
          <a:solidFill>
            <a:srgbClr val="0E1124"/>
          </a:solidFill>
          <a:ln w="6350">
            <a:solidFill>
              <a:srgbClr val="2A2D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55668" y="562356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7B8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📈 TAM Expansion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55668" y="589788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Signals significant market expansion beyond debit into credit card routing territory.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176108" y="2496312"/>
            <a:ext cx="3611880" cy="3995928"/>
          </a:xfrm>
          <a:prstGeom prst="roundRect">
            <a:avLst>
              <a:gd name="adj" fmla="val 2532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76108" y="2468880"/>
            <a:ext cx="3611880" cy="274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2" name="Shape 30"/>
          <p:cNvSpPr/>
          <p:nvPr/>
        </p:nvSpPr>
        <p:spPr>
          <a:xfrm>
            <a:off x="8450428" y="2743200"/>
            <a:ext cx="3063240" cy="310896"/>
          </a:xfrm>
          <a:prstGeom prst="roundRect">
            <a:avLst>
              <a:gd name="adj" fmla="val 50000"/>
            </a:avLst>
          </a:prstGeom>
          <a:solidFill>
            <a:srgbClr val="111327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23580" y="2743200"/>
            <a:ext cx="2916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Signed into Law · 2025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176108" y="324612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8B5CF6"/>
                </a:solidFill>
              </a:rPr>
              <a:t>🪙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8358988" y="397764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GENIUS Act</a:t>
            </a:r>
            <a:endParaRPr lang="en-US" sz="1900" dirty="0"/>
          </a:p>
        </p:txBody>
      </p:sp>
      <p:sp>
        <p:nvSpPr>
          <p:cNvPr id="36" name="Shape 34"/>
          <p:cNvSpPr/>
          <p:nvPr/>
        </p:nvSpPr>
        <p:spPr>
          <a:xfrm>
            <a:off x="8633308" y="4572000"/>
            <a:ext cx="2697480" cy="13716"/>
          </a:xfrm>
          <a:prstGeom prst="rect">
            <a:avLst/>
          </a:prstGeom>
          <a:solidFill>
            <a:srgbClr val="2A2D45"/>
          </a:solidFill>
          <a:ln/>
        </p:spPr>
      </p:sp>
      <p:sp>
        <p:nvSpPr>
          <p:cNvPr id="37" name="Text 35"/>
          <p:cNvSpPr/>
          <p:nvPr/>
        </p:nvSpPr>
        <p:spPr>
          <a:xfrm>
            <a:off x="8450428" y="46634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Federal regulatory framework for payment stablecoins like USDC. 1:1 reserve backing required.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404708" y="5577840"/>
            <a:ext cx="3154680" cy="841248"/>
          </a:xfrm>
          <a:prstGeom prst="roundRect">
            <a:avLst>
              <a:gd name="adj" fmla="val 6522"/>
            </a:avLst>
          </a:prstGeom>
          <a:solidFill>
            <a:srgbClr val="0E1124"/>
          </a:solidFill>
          <a:ln w="6350">
            <a:solidFill>
              <a:srgbClr val="2A2D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41868" y="562356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🛡 Settlement Clarity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541868" y="589788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Legitimizes Howlite's T+0 USDC settlement layer with full regulatory clarity and consumer protection.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5394960"/>
            <a:ext cx="13106095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0" b="1" spc="800" kern="0" dirty="0">
                <a:solidFill>
                  <a:srgbClr val="1113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BENEFITS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512" y="603504"/>
            <a:ext cx="91440" cy="91440"/>
          </a:xfrm>
          <a:prstGeom prst="ellipse">
            <a:avLst/>
          </a:prstGeom>
          <a:solidFill>
            <a:srgbClr val="00BE64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50292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HOWLITE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Benefits that matter to both sides.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Howlite delivers measurable value for healthcare providers and card issuers alike.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18008" y="2496312"/>
            <a:ext cx="5394960" cy="4087368"/>
          </a:xfrm>
          <a:prstGeom prst="roundRect">
            <a:avLst>
              <a:gd name="adj" fmla="val 2237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8008" y="2468880"/>
            <a:ext cx="5394960" cy="27432"/>
          </a:xfrm>
          <a:prstGeom prst="rect">
            <a:avLst/>
          </a:prstGeom>
          <a:solidFill>
            <a:srgbClr val="00BE64"/>
          </a:solidFill>
          <a:ln/>
        </p:spPr>
      </p:sp>
      <p:sp>
        <p:nvSpPr>
          <p:cNvPr id="10" name="Shape 8"/>
          <p:cNvSpPr/>
          <p:nvPr/>
        </p:nvSpPr>
        <p:spPr>
          <a:xfrm>
            <a:off x="792328" y="274320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111327"/>
          </a:solidFill>
          <a:ln w="9525">
            <a:solidFill>
              <a:srgbClr val="00BE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2328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BE64"/>
                </a:solidFill>
              </a:rPr>
              <a:t>🏥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569568" y="2743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Healthcare Providers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569568" y="3108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BE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Clinics · Hospitals · Health Systems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92328" y="3566160"/>
            <a:ext cx="4846320" cy="13716"/>
          </a:xfrm>
          <a:prstGeom prst="rect">
            <a:avLst/>
          </a:prstGeom>
          <a:solidFill>
            <a:srgbClr val="2A2D45"/>
          </a:solidFill>
          <a:ln/>
        </p:spPr>
      </p:sp>
      <p:sp>
        <p:nvSpPr>
          <p:cNvPr id="15" name="Shape 13"/>
          <p:cNvSpPr/>
          <p:nvPr/>
        </p:nvSpPr>
        <p:spPr>
          <a:xfrm>
            <a:off x="883768" y="3822192"/>
            <a:ext cx="128016" cy="128016"/>
          </a:xfrm>
          <a:prstGeom prst="ellipse">
            <a:avLst/>
          </a:prstGeom>
          <a:solidFill>
            <a:srgbClr val="00BE64"/>
          </a:solidFill>
          <a:ln/>
        </p:spPr>
      </p:sp>
      <p:sp>
        <p:nvSpPr>
          <p:cNvPr id="16" name="Text 14"/>
          <p:cNvSpPr/>
          <p:nvPr/>
        </p:nvSpPr>
        <p:spPr>
          <a:xfrm>
            <a:off x="1112368" y="3703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T+0 Same-Day Settlement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12368" y="3959352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Eliminate multi-day float; funds arrive the same day the patient pays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83768" y="4389120"/>
            <a:ext cx="128016" cy="128016"/>
          </a:xfrm>
          <a:prstGeom prst="ellipse">
            <a:avLst/>
          </a:prstGeom>
          <a:solidFill>
            <a:srgbClr val="00BE64"/>
          </a:solidFill>
          <a:ln/>
        </p:spPr>
      </p:sp>
      <p:sp>
        <p:nvSpPr>
          <p:cNvPr id="19" name="Text 17"/>
          <p:cNvSpPr/>
          <p:nvPr/>
        </p:nvSpPr>
        <p:spPr>
          <a:xfrm>
            <a:off x="1112368" y="42702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60% Lower Processing Costs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12368" y="4526280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Transparent, flat-rate fees replace opaque interchange markups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83768" y="4956048"/>
            <a:ext cx="128016" cy="128016"/>
          </a:xfrm>
          <a:prstGeom prst="ellipse">
            <a:avLst/>
          </a:prstGeom>
          <a:solidFill>
            <a:srgbClr val="00BE64"/>
          </a:solidFill>
          <a:ln/>
        </p:spPr>
      </p:sp>
      <p:sp>
        <p:nvSpPr>
          <p:cNvPr id="22" name="Text 20"/>
          <p:cNvSpPr/>
          <p:nvPr/>
        </p:nvSpPr>
        <p:spPr>
          <a:xfrm>
            <a:off x="1112368" y="48371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Auto-Substantiation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12368" y="5093208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L3 data + FHIR codes validate HSA/FSA eligibility at the point of sale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83768" y="5522976"/>
            <a:ext cx="128016" cy="128016"/>
          </a:xfrm>
          <a:prstGeom prst="ellipse">
            <a:avLst/>
          </a:prstGeom>
          <a:solidFill>
            <a:srgbClr val="00BE64"/>
          </a:solidFill>
          <a:ln/>
        </p:spPr>
      </p:sp>
      <p:sp>
        <p:nvSpPr>
          <p:cNvPr id="25" name="Text 23"/>
          <p:cNvSpPr/>
          <p:nvPr/>
        </p:nvSpPr>
        <p:spPr>
          <a:xfrm>
            <a:off x="1112368" y="540410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Reduced Chargebacks &amp; Disputes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12368" y="5660136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Richer transaction data means fewer mis-coded claims and denied payments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83768" y="6089904"/>
            <a:ext cx="128016" cy="128016"/>
          </a:xfrm>
          <a:prstGeom prst="ellipse">
            <a:avLst/>
          </a:prstGeom>
          <a:solidFill>
            <a:srgbClr val="00BE64"/>
          </a:solidFill>
          <a:ln/>
        </p:spPr>
      </p:sp>
      <p:sp>
        <p:nvSpPr>
          <p:cNvPr id="28" name="Text 26"/>
          <p:cNvSpPr/>
          <p:nvPr/>
        </p:nvSpPr>
        <p:spPr>
          <a:xfrm>
            <a:off x="1112368" y="5971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Revenue Visibility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12368" y="6227064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Dashboard-level insight into payment status, reconciliation, and cash flow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78728" y="2496312"/>
            <a:ext cx="5394960" cy="4087368"/>
          </a:xfrm>
          <a:prstGeom prst="roundRect">
            <a:avLst>
              <a:gd name="adj" fmla="val 2237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78728" y="2468880"/>
            <a:ext cx="5394960" cy="27432"/>
          </a:xfrm>
          <a:prstGeom prst="rect">
            <a:avLst/>
          </a:prstGeom>
          <a:solidFill>
            <a:srgbClr val="7B8FE8"/>
          </a:solidFill>
          <a:ln/>
        </p:spPr>
      </p:sp>
      <p:sp>
        <p:nvSpPr>
          <p:cNvPr id="32" name="Shape 30"/>
          <p:cNvSpPr/>
          <p:nvPr/>
        </p:nvSpPr>
        <p:spPr>
          <a:xfrm>
            <a:off x="6553048" y="274320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111327"/>
          </a:solidFill>
          <a:ln w="9525">
            <a:solidFill>
              <a:srgbClr val="7B8F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53048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7B8FE8"/>
                </a:solidFill>
              </a:rPr>
              <a:t>🏛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7330288" y="2743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 Issuers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7330288" y="3108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B8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Banks · Credit Unions · HSA Custodians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553048" y="3566160"/>
            <a:ext cx="4846320" cy="13716"/>
          </a:xfrm>
          <a:prstGeom prst="rect">
            <a:avLst/>
          </a:prstGeom>
          <a:solidFill>
            <a:srgbClr val="2A2D45"/>
          </a:solidFill>
          <a:ln/>
        </p:spPr>
      </p:sp>
      <p:sp>
        <p:nvSpPr>
          <p:cNvPr id="37" name="Shape 35"/>
          <p:cNvSpPr/>
          <p:nvPr/>
        </p:nvSpPr>
        <p:spPr>
          <a:xfrm>
            <a:off x="6644488" y="3822192"/>
            <a:ext cx="128016" cy="128016"/>
          </a:xfrm>
          <a:prstGeom prst="ellipse">
            <a:avLst/>
          </a:prstGeom>
          <a:solidFill>
            <a:srgbClr val="7B8FE8"/>
          </a:solidFill>
          <a:ln/>
        </p:spPr>
      </p:sp>
      <p:sp>
        <p:nvSpPr>
          <p:cNvPr id="38" name="Text 36"/>
          <p:cNvSpPr/>
          <p:nvPr/>
        </p:nvSpPr>
        <p:spPr>
          <a:xfrm>
            <a:off x="6873088" y="3703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Routing Revenue on Every Enabled Card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73088" y="3959352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 interchange delta on any Howlite-enabled card — debit, credit, HSA/FSA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644488" y="4389120"/>
            <a:ext cx="128016" cy="128016"/>
          </a:xfrm>
          <a:prstGeom prst="ellipse">
            <a:avLst/>
          </a:prstGeom>
          <a:solidFill>
            <a:srgbClr val="7B8FE8"/>
          </a:solidFill>
          <a:ln/>
        </p:spPr>
      </p:sp>
      <p:sp>
        <p:nvSpPr>
          <p:cNvPr id="41" name="Text 39"/>
          <p:cNvSpPr/>
          <p:nvPr/>
        </p:nvSpPr>
        <p:spPr>
          <a:xfrm>
            <a:off x="6873088" y="42702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80%+ Compliance Burden Reduction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873088" y="4526280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IRS substantiation eliminates manual review of HSA/FSA transactions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644488" y="4956048"/>
            <a:ext cx="128016" cy="128016"/>
          </a:xfrm>
          <a:prstGeom prst="ellipse">
            <a:avLst/>
          </a:prstGeom>
          <a:solidFill>
            <a:srgbClr val="7B8FE8"/>
          </a:solidFill>
          <a:ln/>
        </p:spPr>
      </p:sp>
      <p:sp>
        <p:nvSpPr>
          <p:cNvPr id="44" name="Text 42"/>
          <p:cNvSpPr/>
          <p:nvPr/>
        </p:nvSpPr>
        <p:spPr>
          <a:xfrm>
            <a:off x="6873088" y="48371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Fraud Prevention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873088" y="5093208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transaction scoring reduces fraud losses before settlement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644488" y="5522976"/>
            <a:ext cx="128016" cy="128016"/>
          </a:xfrm>
          <a:prstGeom prst="ellipse">
            <a:avLst/>
          </a:prstGeom>
          <a:solidFill>
            <a:srgbClr val="7B8FE8"/>
          </a:solidFill>
          <a:ln/>
        </p:spPr>
      </p:sp>
      <p:sp>
        <p:nvSpPr>
          <p:cNvPr id="47" name="Text 45"/>
          <p:cNvSpPr/>
          <p:nvPr/>
        </p:nvSpPr>
        <p:spPr>
          <a:xfrm>
            <a:off x="6873088" y="540410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Durbin Compliance Ready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873088" y="5660136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 multi-network routing mandates with a purpose-built alternative rail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644488" y="6089904"/>
            <a:ext cx="128016" cy="128016"/>
          </a:xfrm>
          <a:prstGeom prst="ellipse">
            <a:avLst/>
          </a:prstGeom>
          <a:solidFill>
            <a:srgbClr val="7B8FE8"/>
          </a:solidFill>
          <a:ln/>
        </p:spPr>
      </p:sp>
      <p:sp>
        <p:nvSpPr>
          <p:cNvPr id="50" name="Text 48"/>
          <p:cNvSpPr/>
          <p:nvPr/>
        </p:nvSpPr>
        <p:spPr>
          <a:xfrm>
            <a:off x="6873088" y="5971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Yield-Bearing Settlement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873088" y="6227064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hUSD stablecoin model enables continuous Treasury-backed yield for every day funds circulate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" y="603504"/>
            <a:ext cx="91440" cy="91440"/>
          </a:xfrm>
          <a:prstGeom prst="ellipse">
            <a:avLst/>
          </a:prstGeom>
          <a:solidFill>
            <a:srgbClr val="5469D4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50292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TEAM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by people who've done it before.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0868" y="1856232"/>
            <a:ext cx="2606040" cy="4178808"/>
          </a:xfrm>
          <a:prstGeom prst="roundRect">
            <a:avLst>
              <a:gd name="adj" fmla="val 3509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0868" y="1828800"/>
            <a:ext cx="2606040" cy="27432"/>
          </a:xfrm>
          <a:prstGeom prst="rect">
            <a:avLst/>
          </a:prstGeom>
          <a:solidFill>
            <a:srgbClr val="7B8FE8"/>
          </a:solidFill>
          <a:ln/>
        </p:spPr>
      </p:sp>
      <p:pic>
        <p:nvPicPr>
          <p:cNvPr id="8" name="Image 0" descr="/home/chandrab/HowliteDeck/img/ti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95248" y="2194560"/>
            <a:ext cx="1097280" cy="1097280"/>
          </a:xfrm>
          <a:prstGeom prst="ellipse">
            <a:avLst/>
          </a:prstGeom>
        </p:spPr>
      </p:pic>
      <p:sp>
        <p:nvSpPr>
          <p:cNvPr id="9" name="Text 6"/>
          <p:cNvSpPr/>
          <p:nvPr/>
        </p:nvSpPr>
        <p:spPr>
          <a:xfrm>
            <a:off x="723748" y="35204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 Sherwin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23748" y="39319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7B8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 / Co-Founder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180948" y="4343400"/>
            <a:ext cx="1325880" cy="13716"/>
          </a:xfrm>
          <a:prstGeom prst="rect">
            <a:avLst/>
          </a:prstGeom>
          <a:solidFill>
            <a:srgbClr val="2A2D45"/>
          </a:solidFill>
          <a:ln/>
        </p:spPr>
      </p:sp>
      <p:sp>
        <p:nvSpPr>
          <p:cNvPr id="12" name="Text 9"/>
          <p:cNvSpPr/>
          <p:nvPr/>
        </p:nvSpPr>
        <p:spPr>
          <a:xfrm>
            <a:off x="815188" y="4526280"/>
            <a:ext cx="20574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Founded CardinalCommerce — acquired by Visa. 20+ years in card-network infrastructure and payment authentication.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375508" y="1856232"/>
            <a:ext cx="2606040" cy="4178808"/>
          </a:xfrm>
          <a:prstGeom prst="roundRect">
            <a:avLst>
              <a:gd name="adj" fmla="val 3509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75508" y="1828800"/>
            <a:ext cx="2606040" cy="27432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5" name="Image 1" descr="/home/chandrab/HowliteDeck/img/chandra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129888" y="2194560"/>
            <a:ext cx="1097280" cy="1097280"/>
          </a:xfrm>
          <a:prstGeom prst="ellipse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58388" y="35204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Chandra B.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3558388" y="39319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CTO / Co-Founder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015588" y="4343400"/>
            <a:ext cx="1325880" cy="13716"/>
          </a:xfrm>
          <a:prstGeom prst="rect">
            <a:avLst/>
          </a:prstGeom>
          <a:solidFill>
            <a:srgbClr val="2A2D45"/>
          </a:solidFill>
          <a:ln/>
        </p:spPr>
      </p:sp>
      <p:sp>
        <p:nvSpPr>
          <p:cNvPr id="19" name="Text 15"/>
          <p:cNvSpPr/>
          <p:nvPr/>
        </p:nvSpPr>
        <p:spPr>
          <a:xfrm>
            <a:off x="3649828" y="4526280"/>
            <a:ext cx="20574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Co-founded CardinalCommerce. 20+ years fintech experience. Blockchain and distributed systems engineer. Architect of the Hedera integration and real-time FHIR compliance engine.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210148" y="1856232"/>
            <a:ext cx="2606040" cy="4178808"/>
          </a:xfrm>
          <a:prstGeom prst="roundRect">
            <a:avLst>
              <a:gd name="adj" fmla="val 3509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210148" y="1828800"/>
            <a:ext cx="2606040" cy="27432"/>
          </a:xfrm>
          <a:prstGeom prst="rect">
            <a:avLst/>
          </a:prstGeom>
          <a:solidFill>
            <a:srgbClr val="00BE64"/>
          </a:solidFill>
          <a:ln/>
        </p:spPr>
      </p:sp>
      <p:pic>
        <p:nvPicPr>
          <p:cNvPr id="22" name="Image 2" descr="/home/chandrab/HowliteDeck/img/stev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964528" y="2194560"/>
            <a:ext cx="1097280" cy="1097280"/>
          </a:xfrm>
          <a:prstGeom prst="ellipse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393028" y="35204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Steve Rosen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6393028" y="39319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00BE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Co-Founder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850228" y="4343400"/>
            <a:ext cx="1325880" cy="13716"/>
          </a:xfrm>
          <a:prstGeom prst="rect">
            <a:avLst/>
          </a:prstGeom>
          <a:solidFill>
            <a:srgbClr val="2A2D45"/>
          </a:solidFill>
          <a:ln/>
        </p:spPr>
      </p:sp>
      <p:sp>
        <p:nvSpPr>
          <p:cNvPr id="26" name="Text 21"/>
          <p:cNvSpPr/>
          <p:nvPr/>
        </p:nvSpPr>
        <p:spPr>
          <a:xfrm>
            <a:off x="6484468" y="4526280"/>
            <a:ext cx="20574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Founded Resilience Capital. Serial fintech entrepreneur with deep expertise in strategic partnerships and scaling.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9044788" y="1856232"/>
            <a:ext cx="2606040" cy="4178808"/>
          </a:xfrm>
          <a:prstGeom prst="roundRect">
            <a:avLst>
              <a:gd name="adj" fmla="val 3509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9044788" y="1828800"/>
            <a:ext cx="260604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Shape 24"/>
          <p:cNvSpPr/>
          <p:nvPr/>
        </p:nvSpPr>
        <p:spPr>
          <a:xfrm>
            <a:off x="9799168" y="2194560"/>
            <a:ext cx="1097280" cy="1097280"/>
          </a:xfrm>
          <a:prstGeom prst="ellipse">
            <a:avLst/>
          </a:prstGeom>
          <a:solidFill>
            <a:srgbClr val="1113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9799168" y="21945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</a:t>
            </a:r>
            <a:endParaRPr lang="en-US" sz="2800" dirty="0"/>
          </a:p>
        </p:txBody>
      </p:sp>
      <p:sp>
        <p:nvSpPr>
          <p:cNvPr id="31" name="Text 26"/>
          <p:cNvSpPr/>
          <p:nvPr/>
        </p:nvSpPr>
        <p:spPr>
          <a:xfrm>
            <a:off x="9227668" y="35204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Oliver Sherwin</a:t>
            </a:r>
            <a:endParaRPr lang="en-US" sz="1700" dirty="0"/>
          </a:p>
        </p:txBody>
      </p:sp>
      <p:sp>
        <p:nvSpPr>
          <p:cNvPr id="32" name="Text 27"/>
          <p:cNvSpPr/>
          <p:nvPr/>
        </p:nvSpPr>
        <p:spPr>
          <a:xfrm>
            <a:off x="9227668" y="39319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of Operations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9684868" y="4343400"/>
            <a:ext cx="1325880" cy="13716"/>
          </a:xfrm>
          <a:prstGeom prst="rect">
            <a:avLst/>
          </a:prstGeom>
          <a:solidFill>
            <a:srgbClr val="2A2D45"/>
          </a:solidFill>
          <a:ln/>
        </p:spPr>
      </p:sp>
      <p:sp>
        <p:nvSpPr>
          <p:cNvPr id="34" name="Text 29"/>
          <p:cNvSpPr/>
          <p:nvPr/>
        </p:nvSpPr>
        <p:spPr>
          <a:xfrm>
            <a:off x="9319108" y="4526280"/>
            <a:ext cx="20574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Manages partner onboarding, product cadence and operations. Background in fintech operations at scale.</a:t>
            </a:r>
            <a:endParaRPr lang="en-US" sz="1050" dirty="0"/>
          </a:p>
        </p:txBody>
      </p:sp>
      <p:sp>
        <p:nvSpPr>
          <p:cNvPr id="35" name="Text 30"/>
          <p:cNvSpPr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8A8D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Proven exit: CardinalCommerce — acquired by Visa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08176" cy="292608"/>
          </a:xfrm>
          <a:prstGeom prst="roundRect">
            <a:avLst>
              <a:gd name="adj" fmla="val 50000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" y="603504"/>
            <a:ext cx="91440" cy="91440"/>
          </a:xfrm>
          <a:prstGeom prst="ellipse">
            <a:avLst/>
          </a:prstGeom>
          <a:solidFill>
            <a:srgbClr val="00BE64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" y="502920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JOIN THE NETWORK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network gets better with you in it.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0868" y="1856232"/>
            <a:ext cx="2606040" cy="4361688"/>
          </a:xfrm>
          <a:prstGeom prst="roundRect">
            <a:avLst>
              <a:gd name="adj" fmla="val 3509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0868" y="1828800"/>
            <a:ext cx="2606040" cy="27432"/>
          </a:xfrm>
          <a:prstGeom prst="rect">
            <a:avLst/>
          </a:prstGeom>
          <a:solidFill>
            <a:srgbClr val="7B8FE8"/>
          </a:solidFill>
          <a:ln/>
        </p:spPr>
      </p:sp>
      <p:sp>
        <p:nvSpPr>
          <p:cNvPr id="8" name="Text 6"/>
          <p:cNvSpPr/>
          <p:nvPr/>
        </p:nvSpPr>
        <p:spPr>
          <a:xfrm>
            <a:off x="540868" y="21488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7B8FE8"/>
                </a:solidFill>
              </a:rPr>
              <a:t>🏛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1066648" y="288036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11327"/>
          </a:solidFill>
          <a:ln w="9525">
            <a:solidFill>
              <a:srgbClr val="7B8F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39800" y="2880360"/>
            <a:ext cx="14081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7B8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Issuer Partners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23748" y="33375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Banks &amp; Credit Unions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5188" y="384048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card you issue — HSA/FSA, debit, credit. New revenue. Better compliance.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89508" y="4937760"/>
            <a:ext cx="1508760" cy="13716"/>
          </a:xfrm>
          <a:prstGeom prst="rect">
            <a:avLst/>
          </a:prstGeom>
          <a:solidFill>
            <a:srgbClr val="2A2D45"/>
          </a:solidFill>
          <a:ln/>
        </p:spPr>
      </p:sp>
      <p:sp>
        <p:nvSpPr>
          <p:cNvPr id="14" name="Shape 12"/>
          <p:cNvSpPr/>
          <p:nvPr/>
        </p:nvSpPr>
        <p:spPr>
          <a:xfrm>
            <a:off x="860908" y="5166360"/>
            <a:ext cx="91440" cy="91440"/>
          </a:xfrm>
          <a:prstGeom prst="ellipse">
            <a:avLst/>
          </a:prstGeom>
          <a:solidFill>
            <a:srgbClr val="7B8FE8"/>
          </a:solidFill>
          <a:ln/>
        </p:spPr>
      </p:sp>
      <p:sp>
        <p:nvSpPr>
          <p:cNvPr id="15" name="Text 13"/>
          <p:cNvSpPr/>
          <p:nvPr/>
        </p:nvSpPr>
        <p:spPr>
          <a:xfrm>
            <a:off x="998068" y="50749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80%+ compliance reduction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0908" y="5477256"/>
            <a:ext cx="91440" cy="91440"/>
          </a:xfrm>
          <a:prstGeom prst="ellipse">
            <a:avLst/>
          </a:prstGeom>
          <a:solidFill>
            <a:srgbClr val="7B8FE8"/>
          </a:solidFill>
          <a:ln/>
        </p:spPr>
      </p:sp>
      <p:sp>
        <p:nvSpPr>
          <p:cNvPr id="17" name="Text 15"/>
          <p:cNvSpPr/>
          <p:nvPr/>
        </p:nvSpPr>
        <p:spPr>
          <a:xfrm>
            <a:off x="998068" y="5385816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fraud prevention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60908" y="5788152"/>
            <a:ext cx="91440" cy="91440"/>
          </a:xfrm>
          <a:prstGeom prst="ellipse">
            <a:avLst/>
          </a:prstGeom>
          <a:solidFill>
            <a:srgbClr val="7B8FE8"/>
          </a:solidFill>
          <a:ln/>
        </p:spPr>
      </p:sp>
      <p:sp>
        <p:nvSpPr>
          <p:cNvPr id="19" name="Text 17"/>
          <p:cNvSpPr/>
          <p:nvPr/>
        </p:nvSpPr>
        <p:spPr>
          <a:xfrm>
            <a:off x="998068" y="569671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routing revenue on every enabled card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75508" y="1856232"/>
            <a:ext cx="2606040" cy="4361688"/>
          </a:xfrm>
          <a:prstGeom prst="roundRect">
            <a:avLst>
              <a:gd name="adj" fmla="val 3509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75508" y="1828800"/>
            <a:ext cx="2606040" cy="27432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2" name="Text 20"/>
          <p:cNvSpPr/>
          <p:nvPr/>
        </p:nvSpPr>
        <p:spPr>
          <a:xfrm>
            <a:off x="3375508" y="21488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43F5E"/>
                </a:solidFill>
              </a:rPr>
              <a:t>🏥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3901288" y="288036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11327"/>
          </a:solidFill>
          <a:ln w="9525">
            <a:solidFill>
              <a:srgbClr val="F43F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74440" y="2880360"/>
            <a:ext cx="14081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Providers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558388" y="33375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Healthcare Systems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3649828" y="384048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Same-day settlement. No float. No claim delays.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924148" y="4937760"/>
            <a:ext cx="1508760" cy="13716"/>
          </a:xfrm>
          <a:prstGeom prst="rect">
            <a:avLst/>
          </a:prstGeom>
          <a:solidFill>
            <a:srgbClr val="2A2D45"/>
          </a:solidFill>
          <a:ln/>
        </p:spPr>
      </p:sp>
      <p:sp>
        <p:nvSpPr>
          <p:cNvPr id="28" name="Shape 26"/>
          <p:cNvSpPr/>
          <p:nvPr/>
        </p:nvSpPr>
        <p:spPr>
          <a:xfrm>
            <a:off x="3695548" y="5166360"/>
            <a:ext cx="91440" cy="9144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29" name="Text 27"/>
          <p:cNvSpPr/>
          <p:nvPr/>
        </p:nvSpPr>
        <p:spPr>
          <a:xfrm>
            <a:off x="3832708" y="50749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T+0 settlement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95548" y="5477256"/>
            <a:ext cx="91440" cy="9144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31" name="Text 29"/>
          <p:cNvSpPr/>
          <p:nvPr/>
        </p:nvSpPr>
        <p:spPr>
          <a:xfrm>
            <a:off x="3832708" y="5385816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Auto-substantiation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95548" y="5788152"/>
            <a:ext cx="91440" cy="9144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33" name="Text 31"/>
          <p:cNvSpPr/>
          <p:nvPr/>
        </p:nvSpPr>
        <p:spPr>
          <a:xfrm>
            <a:off x="3832708" y="569671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60% lower processing cost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0148" y="1856232"/>
            <a:ext cx="2606040" cy="4361688"/>
          </a:xfrm>
          <a:prstGeom prst="roundRect">
            <a:avLst>
              <a:gd name="adj" fmla="val 3509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10148" y="1828800"/>
            <a:ext cx="260604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6210148" y="21488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9E0B"/>
                </a:solidFill>
              </a:rPr>
              <a:t>📈</a:t>
            </a:r>
            <a:endParaRPr lang="en-US" sz="3200" dirty="0"/>
          </a:p>
        </p:txBody>
      </p:sp>
      <p:sp>
        <p:nvSpPr>
          <p:cNvPr id="37" name="Shape 35"/>
          <p:cNvSpPr/>
          <p:nvPr/>
        </p:nvSpPr>
        <p:spPr>
          <a:xfrm>
            <a:off x="6735928" y="288036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11327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09080" y="2880360"/>
            <a:ext cx="14081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Share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393028" y="33375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Partners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6484468" y="384048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Earn on every transaction routed through Howlite.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758788" y="4937760"/>
            <a:ext cx="1508760" cy="13716"/>
          </a:xfrm>
          <a:prstGeom prst="rect">
            <a:avLst/>
          </a:prstGeom>
          <a:solidFill>
            <a:srgbClr val="2A2D45"/>
          </a:solidFill>
          <a:ln/>
        </p:spPr>
      </p:sp>
      <p:sp>
        <p:nvSpPr>
          <p:cNvPr id="42" name="Shape 40"/>
          <p:cNvSpPr/>
          <p:nvPr/>
        </p:nvSpPr>
        <p:spPr>
          <a:xfrm>
            <a:off x="6530188" y="516636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6667348" y="50749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Per-transaction revenue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530188" y="547725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5" name="Text 43"/>
          <p:cNvSpPr/>
          <p:nvPr/>
        </p:nvSpPr>
        <p:spPr>
          <a:xfrm>
            <a:off x="6667348" y="5385816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Interchange delta capture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530188" y="578815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7" name="Text 45"/>
          <p:cNvSpPr/>
          <p:nvPr/>
        </p:nvSpPr>
        <p:spPr>
          <a:xfrm>
            <a:off x="6667348" y="569671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Early-mover equity option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9044788" y="1856232"/>
            <a:ext cx="2606040" cy="4361688"/>
          </a:xfrm>
          <a:prstGeom prst="roundRect">
            <a:avLst>
              <a:gd name="adj" fmla="val 3509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044788" y="1828800"/>
            <a:ext cx="2606040" cy="274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0" name="Text 48"/>
          <p:cNvSpPr/>
          <p:nvPr/>
        </p:nvSpPr>
        <p:spPr>
          <a:xfrm>
            <a:off x="9044788" y="21488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8B5CF6"/>
                </a:solidFill>
              </a:rPr>
              <a:t>🌐</a:t>
            </a:r>
            <a:endParaRPr lang="en-US" sz="3200" dirty="0"/>
          </a:p>
        </p:txBody>
      </p:sp>
      <p:sp>
        <p:nvSpPr>
          <p:cNvPr id="51" name="Shape 49"/>
          <p:cNvSpPr/>
          <p:nvPr/>
        </p:nvSpPr>
        <p:spPr>
          <a:xfrm>
            <a:off x="9570568" y="288036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11327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643720" y="2880360"/>
            <a:ext cx="14081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Partners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9227668" y="33375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</a:t>
            </a:r>
            <a:endParaRPr lang="en-US" sz="1700" dirty="0"/>
          </a:p>
        </p:txBody>
      </p:sp>
      <p:sp>
        <p:nvSpPr>
          <p:cNvPr id="54" name="Text 52"/>
          <p:cNvSpPr/>
          <p:nvPr/>
        </p:nvSpPr>
        <p:spPr>
          <a:xfrm>
            <a:off x="9319108" y="384048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Hedera integration. USDC bridge. EVM-native.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9593428" y="4937760"/>
            <a:ext cx="1508760" cy="13716"/>
          </a:xfrm>
          <a:prstGeom prst="rect">
            <a:avLst/>
          </a:prstGeom>
          <a:solidFill>
            <a:srgbClr val="2A2D45"/>
          </a:solidFill>
          <a:ln/>
        </p:spPr>
      </p:sp>
      <p:sp>
        <p:nvSpPr>
          <p:cNvPr id="56" name="Shape 54"/>
          <p:cNvSpPr/>
          <p:nvPr/>
        </p:nvSpPr>
        <p:spPr>
          <a:xfrm>
            <a:off x="9364828" y="5166360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7" name="Text 55"/>
          <p:cNvSpPr/>
          <p:nvPr/>
        </p:nvSpPr>
        <p:spPr>
          <a:xfrm>
            <a:off x="9501988" y="50749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Hedera settlement layer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9364828" y="5477256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9" name="Text 57"/>
          <p:cNvSpPr/>
          <p:nvPr/>
        </p:nvSpPr>
        <p:spPr>
          <a:xfrm>
            <a:off x="9501988" y="5385816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USDC fiat bridge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9364828" y="5788152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1" name="Text 59"/>
          <p:cNvSpPr/>
          <p:nvPr/>
        </p:nvSpPr>
        <p:spPr>
          <a:xfrm>
            <a:off x="9501988" y="569671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in weeks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5394960"/>
            <a:ext cx="13106095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0" b="1" spc="800" kern="0" dirty="0">
                <a:solidFill>
                  <a:srgbClr val="1113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HOWLITE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5469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" y="502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HOWLITE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362895" y="6400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111327"/>
          </a:solidFill>
          <a:ln w="9525">
            <a:solidFill>
              <a:srgbClr val="2A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81767" y="740664"/>
            <a:ext cx="91440" cy="91440"/>
          </a:xfrm>
          <a:prstGeom prst="ellipse">
            <a:avLst/>
          </a:prstGeom>
          <a:solidFill>
            <a:srgbClr val="00BE64"/>
          </a:solidFill>
          <a:ln/>
        </p:spPr>
      </p:sp>
      <p:sp>
        <p:nvSpPr>
          <p:cNvPr id="8" name="Text 6"/>
          <p:cNvSpPr/>
          <p:nvPr/>
        </p:nvSpPr>
        <p:spPr>
          <a:xfrm>
            <a:off x="10618927" y="64008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STARTED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 to route smarter,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548640" y="269748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BE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settle faster?</a:t>
            </a:r>
            <a:endParaRPr lang="en-US" sz="6000" dirty="0"/>
          </a:p>
        </p:txBody>
      </p:sp>
      <p:sp>
        <p:nvSpPr>
          <p:cNvPr id="11" name="Shape 9"/>
          <p:cNvSpPr/>
          <p:nvPr/>
        </p:nvSpPr>
        <p:spPr>
          <a:xfrm>
            <a:off x="4724248" y="3794760"/>
            <a:ext cx="2743200" cy="22860"/>
          </a:xfrm>
          <a:prstGeom prst="rect">
            <a:avLst/>
          </a:prstGeom>
          <a:solidFill>
            <a:srgbClr val="2A2D45"/>
          </a:solidFill>
          <a:ln/>
        </p:spPr>
      </p:sp>
      <p:sp>
        <p:nvSpPr>
          <p:cNvPr id="12" name="Text 10"/>
          <p:cNvSpPr/>
          <p:nvPr/>
        </p:nvSpPr>
        <p:spPr>
          <a:xfrm>
            <a:off x="2438248" y="41148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B8F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T+0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2438248" y="4892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Settlement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98568" y="41148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L3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4998568" y="4892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 Data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558888" y="41148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BE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USDC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7558888" y="4892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BFB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Currency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86888" y="5577840"/>
            <a:ext cx="6217920" cy="640080"/>
          </a:xfrm>
          <a:prstGeom prst="roundRect">
            <a:avLst>
              <a:gd name="adj" fmla="val 50000"/>
            </a:avLst>
          </a:prstGeom>
          <a:solidFill>
            <a:srgbClr val="00BE64"/>
          </a:solidFill>
          <a:ln/>
        </p:spPr>
      </p:sp>
      <p:sp>
        <p:nvSpPr>
          <p:cNvPr id="19" name="Text 17">
            <a:hlinkClick r:id="rId1" tooltip=""/>
          </p:cNvPr>
          <p:cNvSpPr/>
          <p:nvPr/>
        </p:nvSpPr>
        <p:spPr>
          <a:xfrm>
            <a:off x="2986888" y="557784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0B0D1C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→  Join the network built for transparency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Howlite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Howlite — The Unaffiliated Payment Network</dc:title>
  <dc:subject>PptxGenJS Presentation</dc:subject>
  <dc:creator>Howlite</dc:creator>
  <cp:lastModifiedBy>Howlite</cp:lastModifiedBy>
  <cp:revision>1</cp:revision>
  <dcterms:created xsi:type="dcterms:W3CDTF">2026-05-22T13:25:28Z</dcterms:created>
  <dcterms:modified xsi:type="dcterms:W3CDTF">2026-05-22T13:25:28Z</dcterms:modified>
</cp:coreProperties>
</file>